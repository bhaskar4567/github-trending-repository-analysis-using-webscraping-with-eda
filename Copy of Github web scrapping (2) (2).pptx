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Radley"/>
      <p:regular r:id="rId21"/>
      <p:italic r:id="rId22"/>
    </p:embeddedFont>
    <p:embeddedFont>
      <p:font typeface="Libre Baskerville"/>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adley-italic.fntdata"/><Relationship Id="rId21" Type="http://schemas.openxmlformats.org/officeDocument/2006/relationships/font" Target="fonts/Radley-regular.fntdata"/><Relationship Id="rId24" Type="http://schemas.openxmlformats.org/officeDocument/2006/relationships/font" Target="fonts/LibreBaskerville-bold.fntdata"/><Relationship Id="rId23" Type="http://schemas.openxmlformats.org/officeDocument/2006/relationships/font" Target="fonts/LibreBaskerville-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ibreBaskerville-boldItalic.fntdata"/><Relationship Id="rId25" Type="http://schemas.openxmlformats.org/officeDocument/2006/relationships/font" Target="fonts/LibreBaskerville-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77" name="Google Shape;17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87" name="Google Shape;18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07" name="Google Shape;20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 name="Shape 15"/>
        <p:cNvGrpSpPr/>
        <p:nvPr/>
      </p:nvGrpSpPr>
      <p:grpSpPr>
        <a:xfrm>
          <a:off x="0" y="0"/>
          <a:ext cx="0" cy="0"/>
          <a:chOff x="0" y="0"/>
          <a:chExt cx="0" cy="0"/>
        </a:xfrm>
      </p:grpSpPr>
      <p:sp>
        <p:nvSpPr>
          <p:cNvPr id="16" name="Google Shape;16;p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p:nvPr>
            <p:ph idx="2" type="pic"/>
          </p:nvPr>
        </p:nvSpPr>
        <p:spPr>
          <a:xfrm>
            <a:off x="5183188" y="987425"/>
            <a:ext cx="6172200" cy="4873625"/>
          </a:xfrm>
          <a:prstGeom prst="rect">
            <a:avLst/>
          </a:prstGeom>
          <a:noFill/>
          <a:ln>
            <a:noFill/>
          </a:ln>
        </p:spPr>
      </p:sp>
      <p:sp>
        <p:nvSpPr>
          <p:cNvPr id="18" name="Google Shape;18;p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 name="Google Shape;19;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2" name="Google Shape;22;p2"/>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7" name="Google Shape;27;p3"/>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3" name="Google Shape;33;p4"/>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40" name="Google Shape;40;p5"/>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47" name="Google Shape;47;p6"/>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5" name="Google Shape;55;p7"/>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1" name="Google Shape;61;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8"/>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73" name="Google Shape;73;p9"/>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80" name="Google Shape;80;p10"/>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1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t/>
            </a:r>
            <a:endParaRPr/>
          </a:p>
        </p:txBody>
      </p:sp>
      <p:pic>
        <p:nvPicPr>
          <p:cNvPr id="92" name="Google Shape;92;p12"/>
          <p:cNvPicPr preferRelativeResize="0"/>
          <p:nvPr/>
        </p:nvPicPr>
        <p:blipFill rotWithShape="1">
          <a:blip r:embed="rId3">
            <a:alphaModFix/>
          </a:blip>
          <a:srcRect b="0" l="0" r="0" t="0"/>
          <a:stretch/>
        </p:blipFill>
        <p:spPr>
          <a:xfrm>
            <a:off x="635" y="0"/>
            <a:ext cx="12190729" cy="6858000"/>
          </a:xfrm>
          <a:prstGeom prst="rect">
            <a:avLst/>
          </a:prstGeom>
          <a:noFill/>
          <a:ln>
            <a:noFill/>
          </a:ln>
        </p:spPr>
      </p:pic>
      <p:sp>
        <p:nvSpPr>
          <p:cNvPr id="93" name="Google Shape;93;p12"/>
          <p:cNvSpPr txBox="1"/>
          <p:nvPr>
            <p:ph idx="1" type="body"/>
          </p:nvPr>
        </p:nvSpPr>
        <p:spPr>
          <a:xfrm>
            <a:off x="5412105" y="4150995"/>
            <a:ext cx="1160780" cy="516890"/>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chemeClr val="dk1"/>
              </a:buClr>
              <a:buSzPts val="1600"/>
              <a:buNone/>
            </a:pPr>
            <a:r>
              <a:t/>
            </a:r>
            <a:endParaRPr/>
          </a:p>
        </p:txBody>
      </p:sp>
      <p:pic>
        <p:nvPicPr>
          <p:cNvPr id="94" name="Google Shape;94;p12"/>
          <p:cNvPicPr preferRelativeResize="0"/>
          <p:nvPr>
            <p:ph idx="2" type="pic"/>
          </p:nvPr>
        </p:nvPicPr>
        <p:blipFill rotWithShape="1">
          <a:blip r:embed="rId4">
            <a:alphaModFix/>
          </a:blip>
          <a:srcRect b="10520" l="0" r="0" t="10520"/>
          <a:stretch/>
        </p:blipFill>
        <p:spPr>
          <a:xfrm>
            <a:off x="4771708" y="3611563"/>
            <a:ext cx="2619375" cy="1743075"/>
          </a:xfrm>
          <a:prstGeom prst="rect">
            <a:avLst/>
          </a:prstGeom>
          <a:noFill/>
          <a:ln>
            <a:noFill/>
          </a:ln>
        </p:spPr>
      </p:pic>
      <p:sp>
        <p:nvSpPr>
          <p:cNvPr id="95" name="Google Shape;95;p12"/>
          <p:cNvSpPr txBox="1"/>
          <p:nvPr/>
        </p:nvSpPr>
        <p:spPr>
          <a:xfrm>
            <a:off x="2928620" y="5038090"/>
            <a:ext cx="6728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Github-Trending-Repositories</a:t>
            </a:r>
            <a:endParaRPr b="0" i="0" sz="2400" u="none" cap="none" strike="noStrike">
              <a:solidFill>
                <a:srgbClr val="000000"/>
              </a:solidFill>
              <a:latin typeface="Calibri"/>
              <a:ea typeface="Calibri"/>
              <a:cs typeface="Calibri"/>
              <a:sym typeface="Calibri"/>
            </a:endParaRPr>
          </a:p>
        </p:txBody>
      </p:sp>
      <p:pic>
        <p:nvPicPr>
          <p:cNvPr id="96" name="Google Shape;96;p12" title="images.png"/>
          <p:cNvPicPr preferRelativeResize="0"/>
          <p:nvPr/>
        </p:nvPicPr>
        <p:blipFill rotWithShape="1">
          <a:blip r:embed="rId5">
            <a:alphaModFix/>
          </a:blip>
          <a:srcRect b="0" l="8080" r="0" t="11285"/>
          <a:stretch/>
        </p:blipFill>
        <p:spPr>
          <a:xfrm>
            <a:off x="4771700" y="3685600"/>
            <a:ext cx="2619374" cy="1419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3"/>
          <p:cNvSpPr txBox="1"/>
          <p:nvPr/>
        </p:nvSpPr>
        <p:spPr>
          <a:xfrm>
            <a:off x="777525" y="629925"/>
            <a:ext cx="6449100" cy="646500"/>
          </a:xfrm>
          <a:prstGeom prst="rect">
            <a:avLst/>
          </a:prstGeom>
          <a:noFill/>
          <a:ln>
            <a:noFill/>
          </a:ln>
        </p:spPr>
        <p:txBody>
          <a:bodyPr anchorCtr="0" anchor="t" bIns="45700" lIns="91425" spcFirstLastPara="1" rIns="91425" wrap="square" tIns="45700">
            <a:spAutoFit/>
          </a:bodyPr>
          <a:lstStyle/>
          <a:p>
            <a:pPr indent="0" lvl="0" marL="25400" marR="0" rtl="0" algn="l">
              <a:lnSpc>
                <a:spcPct val="9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Agenda</a:t>
            </a:r>
            <a:endParaRPr b="0" i="0" sz="1400" u="none" cap="none" strike="noStrike">
              <a:solidFill>
                <a:srgbClr val="000000"/>
              </a:solidFill>
              <a:latin typeface="Arial"/>
              <a:ea typeface="Arial"/>
              <a:cs typeface="Arial"/>
              <a:sym typeface="Arial"/>
            </a:endParaRPr>
          </a:p>
        </p:txBody>
      </p:sp>
      <p:sp>
        <p:nvSpPr>
          <p:cNvPr id="102" name="Google Shape;102;p13"/>
          <p:cNvSpPr txBox="1"/>
          <p:nvPr/>
        </p:nvSpPr>
        <p:spPr>
          <a:xfrm>
            <a:off x="975360" y="1389380"/>
            <a:ext cx="10101600" cy="46791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rgbClr val="000000"/>
              </a:buClr>
              <a:buSzPts val="2800"/>
              <a:buFont typeface="Calibri"/>
              <a:buChar char="•"/>
            </a:pPr>
            <a:r>
              <a:rPr b="0" i="0" lang="en-US" sz="2800" u="none" cap="none" strike="noStrike">
                <a:solidFill>
                  <a:srgbClr val="000000"/>
                </a:solidFill>
                <a:latin typeface="Calibri"/>
                <a:ea typeface="Calibri"/>
                <a:cs typeface="Calibri"/>
                <a:sym typeface="Calibri"/>
              </a:rPr>
              <a:t>Business Problem</a:t>
            </a:r>
            <a:endParaRPr b="0" i="0" sz="2800" u="none" cap="none" strike="noStrike">
              <a:solidFill>
                <a:srgbClr val="000000"/>
              </a:solidFill>
              <a:latin typeface="Calibri"/>
              <a:ea typeface="Calibri"/>
              <a:cs typeface="Calibri"/>
              <a:sym typeface="Calibri"/>
            </a:endParaRPr>
          </a:p>
          <a:p>
            <a:pPr indent="-285750" lvl="0" marL="285750" marR="0" rtl="0" algn="just">
              <a:lnSpc>
                <a:spcPct val="100000"/>
              </a:lnSpc>
              <a:spcBef>
                <a:spcPts val="0"/>
              </a:spcBef>
              <a:spcAft>
                <a:spcPts val="0"/>
              </a:spcAft>
              <a:buClr>
                <a:srgbClr val="000000"/>
              </a:buClr>
              <a:buSzPts val="2800"/>
              <a:buFont typeface="Calibri"/>
              <a:buChar char="•"/>
            </a:pPr>
            <a:r>
              <a:rPr b="0" i="0" lang="en-US" sz="2800" u="none" cap="none" strike="noStrike">
                <a:solidFill>
                  <a:srgbClr val="000000"/>
                </a:solidFill>
                <a:latin typeface="Calibri"/>
                <a:ea typeface="Calibri"/>
                <a:cs typeface="Calibri"/>
                <a:sym typeface="Calibri"/>
              </a:rPr>
              <a:t>Project Objective</a:t>
            </a:r>
            <a:endParaRPr b="0" i="0" sz="2800" u="none" cap="none" strike="noStrike">
              <a:solidFill>
                <a:srgbClr val="000000"/>
              </a:solidFill>
              <a:latin typeface="Calibri"/>
              <a:ea typeface="Calibri"/>
              <a:cs typeface="Calibri"/>
              <a:sym typeface="Calibri"/>
            </a:endParaRPr>
          </a:p>
          <a:p>
            <a:pPr indent="-285750" lvl="0" marL="285750" marR="0" rtl="0" algn="just">
              <a:lnSpc>
                <a:spcPct val="100000"/>
              </a:lnSpc>
              <a:spcBef>
                <a:spcPts val="0"/>
              </a:spcBef>
              <a:spcAft>
                <a:spcPts val="0"/>
              </a:spcAft>
              <a:buClr>
                <a:srgbClr val="000000"/>
              </a:buClr>
              <a:buSzPts val="2800"/>
              <a:buFont typeface="Calibri"/>
              <a:buChar char="•"/>
            </a:pPr>
            <a:r>
              <a:rPr b="0" i="0" lang="en-US" sz="2800" u="none" cap="none" strike="noStrike">
                <a:solidFill>
                  <a:srgbClr val="000000"/>
                </a:solidFill>
                <a:latin typeface="Calibri"/>
                <a:ea typeface="Calibri"/>
                <a:cs typeface="Calibri"/>
                <a:sym typeface="Calibri"/>
              </a:rPr>
              <a:t>Tools &amp; Technologies</a:t>
            </a:r>
            <a:endParaRPr b="0" i="0" sz="2800" u="none" cap="none" strike="noStrike">
              <a:solidFill>
                <a:srgbClr val="000000"/>
              </a:solidFill>
              <a:latin typeface="Calibri"/>
              <a:ea typeface="Calibri"/>
              <a:cs typeface="Calibri"/>
              <a:sym typeface="Calibri"/>
            </a:endParaRPr>
          </a:p>
          <a:p>
            <a:pPr indent="-285750" lvl="0" marL="285750" marR="0" rtl="0" algn="just">
              <a:lnSpc>
                <a:spcPct val="100000"/>
              </a:lnSpc>
              <a:spcBef>
                <a:spcPts val="0"/>
              </a:spcBef>
              <a:spcAft>
                <a:spcPts val="0"/>
              </a:spcAft>
              <a:buClr>
                <a:srgbClr val="000000"/>
              </a:buClr>
              <a:buSzPts val="2800"/>
              <a:buFont typeface="Calibri"/>
              <a:buChar char="•"/>
            </a:pPr>
            <a:r>
              <a:rPr b="0" i="0" lang="en-US" sz="2800" u="none" cap="none" strike="noStrike">
                <a:solidFill>
                  <a:srgbClr val="000000"/>
                </a:solidFill>
                <a:latin typeface="Calibri"/>
                <a:ea typeface="Calibri"/>
                <a:cs typeface="Calibri"/>
                <a:sym typeface="Calibri"/>
              </a:rPr>
              <a:t>Web Scraping &amp; Data Collection</a:t>
            </a:r>
            <a:endParaRPr b="0" i="0" sz="2800" u="none" cap="none" strike="noStrike">
              <a:solidFill>
                <a:srgbClr val="000000"/>
              </a:solidFill>
              <a:latin typeface="Calibri"/>
              <a:ea typeface="Calibri"/>
              <a:cs typeface="Calibri"/>
              <a:sym typeface="Calibri"/>
            </a:endParaRPr>
          </a:p>
          <a:p>
            <a:pPr indent="-285750" lvl="0" marL="285750" marR="0" rtl="0" algn="just">
              <a:lnSpc>
                <a:spcPct val="100000"/>
              </a:lnSpc>
              <a:spcBef>
                <a:spcPts val="0"/>
              </a:spcBef>
              <a:spcAft>
                <a:spcPts val="0"/>
              </a:spcAft>
              <a:buClr>
                <a:srgbClr val="000000"/>
              </a:buClr>
              <a:buSzPts val="2800"/>
              <a:buFont typeface="Calibri"/>
              <a:buChar char="•"/>
            </a:pPr>
            <a:r>
              <a:rPr b="0" i="0" lang="en-US" sz="2800" u="none" cap="none" strike="noStrike">
                <a:solidFill>
                  <a:srgbClr val="000000"/>
                </a:solidFill>
                <a:latin typeface="Calibri"/>
                <a:ea typeface="Calibri"/>
                <a:cs typeface="Calibri"/>
                <a:sym typeface="Calibri"/>
              </a:rPr>
              <a:t>Dataset &amp; Data Preprocessing</a:t>
            </a:r>
            <a:endParaRPr b="0" i="0" sz="2800" u="none" cap="none" strike="noStrike">
              <a:solidFill>
                <a:srgbClr val="000000"/>
              </a:solidFill>
              <a:latin typeface="Calibri"/>
              <a:ea typeface="Calibri"/>
              <a:cs typeface="Calibri"/>
              <a:sym typeface="Calibri"/>
            </a:endParaRPr>
          </a:p>
          <a:p>
            <a:pPr indent="-285750" lvl="0" marL="285750" marR="0" rtl="0" algn="just">
              <a:lnSpc>
                <a:spcPct val="100000"/>
              </a:lnSpc>
              <a:spcBef>
                <a:spcPts val="0"/>
              </a:spcBef>
              <a:spcAft>
                <a:spcPts val="0"/>
              </a:spcAft>
              <a:buClr>
                <a:srgbClr val="000000"/>
              </a:buClr>
              <a:buSzPts val="2800"/>
              <a:buFont typeface="Calibri"/>
              <a:buChar char="•"/>
            </a:pPr>
            <a:r>
              <a:rPr b="0" i="0" lang="en-US" sz="2800" u="none" cap="none" strike="noStrike">
                <a:solidFill>
                  <a:srgbClr val="000000"/>
                </a:solidFill>
                <a:latin typeface="Calibri"/>
                <a:ea typeface="Calibri"/>
                <a:cs typeface="Calibri"/>
                <a:sym typeface="Calibri"/>
              </a:rPr>
              <a:t>Exploratory Data Analysis &amp; Visualization</a:t>
            </a:r>
            <a:endParaRPr b="0" i="0" sz="2800" u="none" cap="none" strike="noStrike">
              <a:solidFill>
                <a:srgbClr val="000000"/>
              </a:solidFill>
              <a:latin typeface="Calibri"/>
              <a:ea typeface="Calibri"/>
              <a:cs typeface="Calibri"/>
              <a:sym typeface="Calibri"/>
            </a:endParaRPr>
          </a:p>
          <a:p>
            <a:pPr indent="-285750" lvl="0" marL="285750" marR="0" rtl="0" algn="just">
              <a:lnSpc>
                <a:spcPct val="100000"/>
              </a:lnSpc>
              <a:spcBef>
                <a:spcPts val="0"/>
              </a:spcBef>
              <a:spcAft>
                <a:spcPts val="0"/>
              </a:spcAft>
              <a:buClr>
                <a:srgbClr val="000000"/>
              </a:buClr>
              <a:buSzPts val="2800"/>
              <a:buFont typeface="Calibri"/>
              <a:buChar char="•"/>
            </a:pPr>
            <a:r>
              <a:rPr b="0" i="0" lang="en-US" sz="2800" u="none" cap="none" strike="noStrike">
                <a:solidFill>
                  <a:srgbClr val="000000"/>
                </a:solidFill>
                <a:latin typeface="Calibri"/>
                <a:ea typeface="Calibri"/>
                <a:cs typeface="Calibri"/>
                <a:sym typeface="Calibri"/>
              </a:rPr>
              <a:t>Statistical &amp; Hypothesis Testing</a:t>
            </a:r>
            <a:endParaRPr b="0" i="0" sz="2800" u="none" cap="none" strike="noStrike">
              <a:solidFill>
                <a:srgbClr val="000000"/>
              </a:solidFill>
              <a:latin typeface="Calibri"/>
              <a:ea typeface="Calibri"/>
              <a:cs typeface="Calibri"/>
              <a:sym typeface="Calibri"/>
            </a:endParaRPr>
          </a:p>
          <a:p>
            <a:pPr indent="-285750" lvl="0" marL="285750" marR="0" rtl="0" algn="just">
              <a:lnSpc>
                <a:spcPct val="100000"/>
              </a:lnSpc>
              <a:spcBef>
                <a:spcPts val="0"/>
              </a:spcBef>
              <a:spcAft>
                <a:spcPts val="0"/>
              </a:spcAft>
              <a:buClr>
                <a:srgbClr val="000000"/>
              </a:buClr>
              <a:buSzPts val="2800"/>
              <a:buFont typeface="Calibri"/>
              <a:buChar char="•"/>
            </a:pPr>
            <a:r>
              <a:rPr b="0" i="0" lang="en-US" sz="2800" u="none" cap="none" strike="noStrike">
                <a:solidFill>
                  <a:srgbClr val="000000"/>
                </a:solidFill>
                <a:latin typeface="Calibri"/>
                <a:ea typeface="Calibri"/>
                <a:cs typeface="Calibri"/>
                <a:sym typeface="Calibri"/>
              </a:rPr>
              <a:t>Key Business Insights</a:t>
            </a:r>
            <a:endParaRPr b="0" i="0" sz="2800" u="none" cap="none" strike="noStrike">
              <a:solidFill>
                <a:srgbClr val="000000"/>
              </a:solidFill>
              <a:latin typeface="Calibri"/>
              <a:ea typeface="Calibri"/>
              <a:cs typeface="Calibri"/>
              <a:sym typeface="Calibri"/>
            </a:endParaRPr>
          </a:p>
          <a:p>
            <a:pPr indent="-285750" lvl="0" marL="285750" marR="0" rtl="0" algn="just">
              <a:lnSpc>
                <a:spcPct val="100000"/>
              </a:lnSpc>
              <a:spcBef>
                <a:spcPts val="0"/>
              </a:spcBef>
              <a:spcAft>
                <a:spcPts val="0"/>
              </a:spcAft>
              <a:buClr>
                <a:srgbClr val="000000"/>
              </a:buClr>
              <a:buSzPts val="2800"/>
              <a:buFont typeface="Calibri"/>
              <a:buChar char="•"/>
            </a:pPr>
            <a:r>
              <a:rPr b="0" i="0" lang="en-US" sz="2800" u="none" cap="none" strike="noStrike">
                <a:solidFill>
                  <a:srgbClr val="000000"/>
                </a:solidFill>
                <a:latin typeface="Calibri"/>
                <a:ea typeface="Calibri"/>
                <a:cs typeface="Calibri"/>
                <a:sym typeface="Calibri"/>
              </a:rPr>
              <a:t>Conclusion</a:t>
            </a:r>
            <a:endParaRPr b="0" i="0" sz="2800" u="none" cap="none" strike="noStrike">
              <a:solidFill>
                <a:srgbClr val="000000"/>
              </a:solidFill>
              <a:latin typeface="Calibri"/>
              <a:ea typeface="Calibri"/>
              <a:cs typeface="Calibri"/>
              <a:sym typeface="Calibri"/>
            </a:endParaRPr>
          </a:p>
          <a:p>
            <a:pPr indent="-82550" lvl="0" marL="28575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highlight>
                <a:srgbClr val="000000"/>
              </a:highlight>
              <a:latin typeface="Radley"/>
              <a:ea typeface="Radley"/>
              <a:cs typeface="Radley"/>
              <a:sym typeface="Radle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4"/>
          <p:cNvSpPr txBox="1"/>
          <p:nvPr/>
        </p:nvSpPr>
        <p:spPr>
          <a:xfrm>
            <a:off x="526100" y="714375"/>
            <a:ext cx="10874100" cy="646500"/>
          </a:xfrm>
          <a:prstGeom prst="rect">
            <a:avLst/>
          </a:prstGeom>
          <a:noFill/>
          <a:ln>
            <a:noFill/>
          </a:ln>
        </p:spPr>
        <p:txBody>
          <a:bodyPr anchorCtr="0" anchor="t" bIns="45700" lIns="91425" spcFirstLastPara="1" rIns="91425" wrap="square" tIns="45700">
            <a:spAutoFit/>
          </a:bodyPr>
          <a:lstStyle/>
          <a:p>
            <a:pPr indent="0" lvl="0" marL="25400" marR="0" rtl="0" algn="l">
              <a:lnSpc>
                <a:spcPct val="9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Business Problem</a:t>
            </a:r>
            <a:endParaRPr b="0" i="0" sz="1400" u="none" cap="none" strike="noStrike">
              <a:solidFill>
                <a:srgbClr val="000000"/>
              </a:solidFill>
              <a:latin typeface="Arial"/>
              <a:ea typeface="Arial"/>
              <a:cs typeface="Arial"/>
              <a:sym typeface="Arial"/>
            </a:endParaRPr>
          </a:p>
        </p:txBody>
      </p:sp>
      <p:sp>
        <p:nvSpPr>
          <p:cNvPr id="108" name="Google Shape;108;p14"/>
          <p:cNvSpPr txBox="1"/>
          <p:nvPr/>
        </p:nvSpPr>
        <p:spPr>
          <a:xfrm>
            <a:off x="716930" y="1660480"/>
            <a:ext cx="10533900" cy="41313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GitHub contains a large number of repositories across different technologies, topics, and programming languages. It is difficult to systematically identify which repositories are popular within specific topics and compare repository popularity across different categories and programming languages.</a:t>
            </a:r>
            <a:endParaRPr sz="20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lang="en-US" sz="2000">
                <a:solidFill>
                  <a:schemeClr val="dk1"/>
                </a:solidFill>
                <a:latin typeface="Calibri"/>
                <a:ea typeface="Calibri"/>
                <a:cs typeface="Calibri"/>
                <a:sym typeface="Calibri"/>
              </a:rPr>
              <a:t>This project addresses this problem by collecting GitHub repository data through web scraping and analyzing repository popularity using GitHub Stars. The analysis helps identify popular repositories, compare popularity across topics and categories, and understand the programming languages associated with popular repositories.</a:t>
            </a:r>
            <a:endParaRPr sz="20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2400"/>
              <a:buFont typeface="Arial"/>
              <a:buNone/>
            </a:pPr>
            <a:r>
              <a:t/>
            </a:r>
            <a:endParaRPr sz="23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nvSpPr>
        <p:spPr>
          <a:xfrm>
            <a:off x="438225" y="422335"/>
            <a:ext cx="10401900" cy="5264100"/>
          </a:xfrm>
          <a:prstGeom prst="rect">
            <a:avLst/>
          </a:prstGeom>
          <a:noFill/>
          <a:ln>
            <a:noFill/>
          </a:ln>
        </p:spPr>
        <p:txBody>
          <a:bodyPr anchorCtr="0" anchor="t" bIns="45700" lIns="91425" spcFirstLastPara="1" rIns="91425" wrap="square" tIns="45700">
            <a:spAutoFit/>
          </a:bodyPr>
          <a:lstStyle/>
          <a:p>
            <a:pPr indent="0" lvl="0" marL="0" marR="0" rtl="0" algn="just">
              <a:lnSpc>
                <a:spcPct val="9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Project Objective</a:t>
            </a:r>
            <a:endParaRPr b="1" i="0" sz="4000" u="none" cap="none" strike="noStrike">
              <a:solidFill>
                <a:srgbClr val="FF0000"/>
              </a:solidFill>
              <a:latin typeface="Times New Roman"/>
              <a:ea typeface="Times New Roman"/>
              <a:cs typeface="Times New Roman"/>
              <a:sym typeface="Times New Roman"/>
            </a:endParaRPr>
          </a:p>
          <a:p>
            <a:pPr indent="0" lvl="0" marL="25400" marR="0" rtl="0" algn="just">
              <a:lnSpc>
                <a:spcPct val="90000"/>
              </a:lnSpc>
              <a:spcBef>
                <a:spcPts val="0"/>
              </a:spcBef>
              <a:spcAft>
                <a:spcPts val="0"/>
              </a:spcAft>
              <a:buClr>
                <a:srgbClr val="000000"/>
              </a:buClr>
              <a:buSzPts val="4000"/>
              <a:buFont typeface="Arial"/>
              <a:buNone/>
            </a:pPr>
            <a:r>
              <a:t/>
            </a:r>
            <a:endParaRPr b="1" i="0" sz="4000" u="none" cap="none" strike="noStrike">
              <a:solidFill>
                <a:srgbClr val="FF0000"/>
              </a:solidFill>
              <a:latin typeface="Times New Roman"/>
              <a:ea typeface="Times New Roman"/>
              <a:cs typeface="Times New Roman"/>
              <a:sym typeface="Times New Roman"/>
            </a:endParaRPr>
          </a:p>
          <a:p>
            <a:pPr indent="-381000" lvl="0" marL="457200" rtl="0" algn="just">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Collect GitHub repository data from different technology categories and topics using web scraping.</a:t>
            </a:r>
            <a:endParaRPr sz="2400">
              <a:solidFill>
                <a:schemeClr val="dk1"/>
              </a:solidFill>
              <a:latin typeface="Calibri"/>
              <a:ea typeface="Calibri"/>
              <a:cs typeface="Calibri"/>
              <a:sym typeface="Calibri"/>
            </a:endParaRPr>
          </a:p>
          <a:p>
            <a:pPr indent="-381000" lvl="0" marL="457200" rtl="0" algn="just">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Clean and prepare the scraped dataset for accurate analysis by handling duplicates, missing values, and data inconsistencies.</a:t>
            </a:r>
            <a:endParaRPr sz="2400">
              <a:solidFill>
                <a:schemeClr val="dk1"/>
              </a:solidFill>
              <a:latin typeface="Calibri"/>
              <a:ea typeface="Calibri"/>
              <a:cs typeface="Calibri"/>
              <a:sym typeface="Calibri"/>
            </a:endParaRPr>
          </a:p>
          <a:p>
            <a:pPr indent="-381000" lvl="0" marL="457200" rtl="0" algn="just">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Analyze repository popularity using GitHub Stars and examine how popularity varies across topics, categories, and programming languages.</a:t>
            </a:r>
            <a:endParaRPr sz="2400">
              <a:solidFill>
                <a:schemeClr val="dk1"/>
              </a:solidFill>
              <a:latin typeface="Calibri"/>
              <a:ea typeface="Calibri"/>
              <a:cs typeface="Calibri"/>
              <a:sym typeface="Calibri"/>
            </a:endParaRPr>
          </a:p>
          <a:p>
            <a:pPr indent="-381000" lvl="0" marL="457200" rtl="0" algn="just">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Compare repository popularity across different technology categories and topics to identify popular areas and repositories.</a:t>
            </a:r>
            <a:endParaRPr sz="2400">
              <a:solidFill>
                <a:schemeClr val="dk1"/>
              </a:solidFill>
              <a:latin typeface="Calibri"/>
              <a:ea typeface="Calibri"/>
              <a:cs typeface="Calibri"/>
              <a:sym typeface="Calibri"/>
            </a:endParaRPr>
          </a:p>
          <a:p>
            <a:pPr indent="-381000" lvl="0" marL="457200" rtl="0" algn="just">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Create meaningful features and perform statistical analysis to identify popularity patterns and derive actionable business insights from the scraped GitHub data.</a:t>
            </a:r>
            <a:endParaRPr i="0" sz="2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6"/>
          <p:cNvSpPr txBox="1"/>
          <p:nvPr/>
        </p:nvSpPr>
        <p:spPr>
          <a:xfrm>
            <a:off x="402925" y="339300"/>
            <a:ext cx="10716600" cy="1385400"/>
          </a:xfrm>
          <a:prstGeom prst="rect">
            <a:avLst/>
          </a:prstGeom>
          <a:noFill/>
          <a:ln>
            <a:noFill/>
          </a:ln>
        </p:spPr>
        <p:txBody>
          <a:bodyPr anchorCtr="0" anchor="t" bIns="45700" lIns="91425" spcFirstLastPara="1" rIns="91425" wrap="square" tIns="45700">
            <a:spAutoFit/>
          </a:bodyPr>
          <a:lstStyle/>
          <a:p>
            <a:pPr indent="0" lvl="0" marL="25400" marR="0" rtl="0" algn="l">
              <a:lnSpc>
                <a:spcPct val="9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Tools &amp; Technologies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id="119" name="Google Shape;119;p16" title="0bb7b8ab-a69a-4c79-b962-845c26392238.png"/>
          <p:cNvPicPr preferRelativeResize="0"/>
          <p:nvPr/>
        </p:nvPicPr>
        <p:blipFill rotWithShape="1">
          <a:blip r:embed="rId3">
            <a:alphaModFix/>
          </a:blip>
          <a:srcRect b="0" l="3298" r="0" t="10842"/>
          <a:stretch/>
        </p:blipFill>
        <p:spPr>
          <a:xfrm>
            <a:off x="920350" y="1212825"/>
            <a:ext cx="10577499" cy="47757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nvSpPr>
        <p:spPr>
          <a:xfrm>
            <a:off x="417200" y="502925"/>
            <a:ext cx="11064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Web Scraping &amp; Data Collection </a:t>
            </a:r>
            <a:endParaRPr b="0" i="0" sz="1400" u="none" cap="none" strike="noStrike">
              <a:solidFill>
                <a:srgbClr val="000000"/>
              </a:solidFill>
              <a:latin typeface="Arial"/>
              <a:ea typeface="Arial"/>
              <a:cs typeface="Arial"/>
              <a:sym typeface="Arial"/>
            </a:endParaRPr>
          </a:p>
        </p:txBody>
      </p:sp>
      <p:sp>
        <p:nvSpPr>
          <p:cNvPr id="125" name="Google Shape;125;p17"/>
          <p:cNvSpPr txBox="1"/>
          <p:nvPr/>
        </p:nvSpPr>
        <p:spPr>
          <a:xfrm>
            <a:off x="579120" y="1209675"/>
            <a:ext cx="11064875" cy="981710"/>
          </a:xfrm>
          <a:prstGeom prst="rect">
            <a:avLst/>
          </a:prstGeom>
          <a:noFill/>
          <a:ln>
            <a:noFill/>
          </a:ln>
        </p:spPr>
        <p:txBody>
          <a:bodyPr anchorCtr="0" anchor="t" bIns="45700" lIns="91425" spcFirstLastPara="1" rIns="91425" wrap="square" tIns="45700">
            <a:noAutofit/>
          </a:bodyPr>
          <a:lstStyle/>
          <a:p>
            <a:pPr indent="457200" lvl="0" marL="0" marR="0" rtl="0" algn="just">
              <a:lnSpc>
                <a:spcPct val="15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6" name="Google Shape;126;p17"/>
          <p:cNvSpPr txBox="1"/>
          <p:nvPr/>
        </p:nvSpPr>
        <p:spPr>
          <a:xfrm>
            <a:off x="243885" y="4369975"/>
            <a:ext cx="9871800" cy="2376300"/>
          </a:xfrm>
          <a:prstGeom prst="rect">
            <a:avLst/>
          </a:prstGeom>
          <a:noFill/>
          <a:ln>
            <a:noFill/>
          </a:ln>
        </p:spPr>
        <p:txBody>
          <a:bodyPr anchorCtr="0" anchor="t" bIns="45700" lIns="91425" spcFirstLastPara="1" rIns="91425" wrap="square" tIns="45700">
            <a:noAutofit/>
          </a:bodyPr>
          <a:lstStyle/>
          <a:p>
            <a:pPr indent="-330200" lvl="0" marL="457200" marR="0" rtl="0" algn="just">
              <a:lnSpc>
                <a:spcPct val="100000"/>
              </a:lnSpc>
              <a:spcBef>
                <a:spcPts val="0"/>
              </a:spcBef>
              <a:spcAft>
                <a:spcPts val="0"/>
              </a:spcAft>
              <a:buClr>
                <a:schemeClr val="dk1"/>
              </a:buClr>
              <a:buSzPts val="1600"/>
              <a:buFont typeface="Calibri"/>
              <a:buChar char="●"/>
            </a:pPr>
            <a:r>
              <a:rPr b="1" i="0" lang="en-US" sz="1600" u="none" cap="none" strike="noStrike">
                <a:solidFill>
                  <a:schemeClr val="dk1"/>
                </a:solidFill>
                <a:latin typeface="Calibri"/>
                <a:ea typeface="Calibri"/>
                <a:cs typeface="Calibri"/>
                <a:sym typeface="Calibri"/>
              </a:rPr>
              <a:t>Source</a:t>
            </a:r>
            <a:r>
              <a:rPr i="0" lang="en-US" sz="1600" u="none" cap="none" strike="noStrike">
                <a:solidFill>
                  <a:schemeClr val="dk1"/>
                </a:solidFill>
                <a:latin typeface="Calibri"/>
                <a:ea typeface="Calibri"/>
                <a:cs typeface="Calibri"/>
                <a:sym typeface="Calibri"/>
              </a:rPr>
              <a:t>: GitHub repository data</a:t>
            </a:r>
            <a:endParaRPr i="0" sz="1600" u="none" cap="none" strike="noStrike">
              <a:solidFill>
                <a:schemeClr val="dk1"/>
              </a:solidFill>
              <a:latin typeface="Calibri"/>
              <a:ea typeface="Calibri"/>
              <a:cs typeface="Calibri"/>
              <a:sym typeface="Calibri"/>
            </a:endParaRPr>
          </a:p>
          <a:p>
            <a:pPr indent="-330200" lvl="0" marL="457200" marR="0" rtl="0" algn="just">
              <a:lnSpc>
                <a:spcPct val="100000"/>
              </a:lnSpc>
              <a:spcBef>
                <a:spcPts val="0"/>
              </a:spcBef>
              <a:spcAft>
                <a:spcPts val="0"/>
              </a:spcAft>
              <a:buClr>
                <a:schemeClr val="dk1"/>
              </a:buClr>
              <a:buSzPts val="1600"/>
              <a:buFont typeface="Calibri"/>
              <a:buChar char="●"/>
            </a:pPr>
            <a:r>
              <a:rPr i="0" lang="en-US" sz="1600" u="none" cap="none" strike="noStrike">
                <a:solidFill>
                  <a:schemeClr val="dk1"/>
                </a:solidFill>
                <a:latin typeface="Calibri"/>
                <a:ea typeface="Calibri"/>
                <a:cs typeface="Calibri"/>
                <a:sym typeface="Calibri"/>
              </a:rPr>
              <a:t>Tools Used: Python, Requests, BeautifulSoup, Pandas &amp; NumPy</a:t>
            </a:r>
            <a:endParaRPr i="0" sz="1600" u="none" cap="none" strike="noStrike">
              <a:solidFill>
                <a:schemeClr val="dk1"/>
              </a:solidFill>
              <a:latin typeface="Calibri"/>
              <a:ea typeface="Calibri"/>
              <a:cs typeface="Calibri"/>
              <a:sym typeface="Calibri"/>
            </a:endParaRPr>
          </a:p>
          <a:p>
            <a:pPr indent="-330200" lvl="0" marL="457200" marR="0" rtl="0" algn="just">
              <a:lnSpc>
                <a:spcPct val="100000"/>
              </a:lnSpc>
              <a:spcBef>
                <a:spcPts val="0"/>
              </a:spcBef>
              <a:spcAft>
                <a:spcPts val="0"/>
              </a:spcAft>
              <a:buClr>
                <a:schemeClr val="dk1"/>
              </a:buClr>
              <a:buSzPts val="1600"/>
              <a:buFont typeface="Calibri"/>
              <a:buChar char="●"/>
            </a:pPr>
            <a:r>
              <a:rPr i="0" lang="en-US" sz="1600" u="none" cap="none" strike="noStrike">
                <a:solidFill>
                  <a:schemeClr val="dk1"/>
                </a:solidFill>
                <a:latin typeface="Calibri"/>
                <a:ea typeface="Calibri"/>
                <a:cs typeface="Calibri"/>
                <a:sym typeface="Calibri"/>
              </a:rPr>
              <a:t>Collected repository data from different GitHub technology categories and topics.</a:t>
            </a:r>
            <a:endParaRPr i="0" sz="1600" u="none" cap="none" strike="noStrike">
              <a:solidFill>
                <a:schemeClr val="dk1"/>
              </a:solidFill>
              <a:latin typeface="Calibri"/>
              <a:ea typeface="Calibri"/>
              <a:cs typeface="Calibri"/>
              <a:sym typeface="Calibri"/>
            </a:endParaRPr>
          </a:p>
          <a:p>
            <a:pPr indent="-330200" lvl="0" marL="457200" marR="0" rtl="0" algn="just">
              <a:lnSpc>
                <a:spcPct val="100000"/>
              </a:lnSpc>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Extracted key details such as repository name, owner, programming language, stars, and repository URL </a:t>
            </a:r>
            <a:endParaRPr i="0" sz="1600" u="none" cap="none" strike="noStrike">
              <a:solidFill>
                <a:schemeClr val="dk1"/>
              </a:solidFill>
              <a:latin typeface="Calibri"/>
              <a:ea typeface="Calibri"/>
              <a:cs typeface="Calibri"/>
              <a:sym typeface="Calibri"/>
            </a:endParaRPr>
          </a:p>
          <a:p>
            <a:pPr indent="-330200" lvl="0" marL="457200" marR="0" rtl="0" algn="just">
              <a:lnSpc>
                <a:spcPct val="100000"/>
              </a:lnSpc>
              <a:spcBef>
                <a:spcPts val="0"/>
              </a:spcBef>
              <a:spcAft>
                <a:spcPts val="0"/>
              </a:spcAft>
              <a:buClr>
                <a:schemeClr val="dk1"/>
              </a:buClr>
              <a:buSzPts val="1600"/>
              <a:buFont typeface="Calibri"/>
              <a:buChar char="●"/>
            </a:pPr>
            <a:r>
              <a:rPr i="0" lang="en-US" sz="1600" u="none" cap="none" strike="noStrike">
                <a:solidFill>
                  <a:schemeClr val="dk1"/>
                </a:solidFill>
                <a:latin typeface="Calibri"/>
                <a:ea typeface="Calibri"/>
                <a:cs typeface="Calibri"/>
                <a:sym typeface="Calibri"/>
              </a:rPr>
              <a:t>Collected and combined the repository records into a single dataset.</a:t>
            </a:r>
            <a:endParaRPr i="0" sz="1600" u="none" cap="none" strike="noStrike">
              <a:solidFill>
                <a:schemeClr val="dk1"/>
              </a:solidFill>
              <a:latin typeface="Calibri"/>
              <a:ea typeface="Calibri"/>
              <a:cs typeface="Calibri"/>
              <a:sym typeface="Calibri"/>
            </a:endParaRPr>
          </a:p>
          <a:p>
            <a:pPr indent="-330200" lvl="0" marL="457200" marR="0" rtl="0" algn="just">
              <a:lnSpc>
                <a:spcPct val="100000"/>
              </a:lnSpc>
              <a:spcBef>
                <a:spcPts val="0"/>
              </a:spcBef>
              <a:spcAft>
                <a:spcPts val="0"/>
              </a:spcAft>
              <a:buClr>
                <a:schemeClr val="dk1"/>
              </a:buClr>
              <a:buSzPts val="1600"/>
              <a:buFont typeface="Calibri"/>
              <a:buChar char="●"/>
            </a:pPr>
            <a:r>
              <a:rPr i="0" lang="en-US" sz="1600" u="none" cap="none" strike="noStrike">
                <a:solidFill>
                  <a:schemeClr val="dk1"/>
                </a:solidFill>
                <a:latin typeface="Calibri"/>
                <a:ea typeface="Calibri"/>
                <a:cs typeface="Calibri"/>
                <a:sym typeface="Calibri"/>
              </a:rPr>
              <a:t>The collected data was then prepared for cleaning, preprocessing, EDA, visualization, and further analysis.</a:t>
            </a:r>
            <a:endParaRPr i="0" sz="16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27" name="Google Shape;127;p17" title="Screenshot 2026-09-04 090215.png"/>
          <p:cNvPicPr preferRelativeResize="0"/>
          <p:nvPr/>
        </p:nvPicPr>
        <p:blipFill>
          <a:blip r:embed="rId3">
            <a:alphaModFix/>
          </a:blip>
          <a:stretch>
            <a:fillRect/>
          </a:stretch>
        </p:blipFill>
        <p:spPr>
          <a:xfrm>
            <a:off x="166375" y="1210925"/>
            <a:ext cx="5737200" cy="3006725"/>
          </a:xfrm>
          <a:prstGeom prst="rect">
            <a:avLst/>
          </a:prstGeom>
          <a:noFill/>
          <a:ln>
            <a:noFill/>
          </a:ln>
        </p:spPr>
      </p:pic>
      <p:pic>
        <p:nvPicPr>
          <p:cNvPr id="128" name="Google Shape;128;p17" title="Screenshot 2026-09-04 090429.png"/>
          <p:cNvPicPr preferRelativeResize="0"/>
          <p:nvPr/>
        </p:nvPicPr>
        <p:blipFill>
          <a:blip r:embed="rId4">
            <a:alphaModFix/>
          </a:blip>
          <a:stretch>
            <a:fillRect/>
          </a:stretch>
        </p:blipFill>
        <p:spPr>
          <a:xfrm>
            <a:off x="5526450" y="1210925"/>
            <a:ext cx="6117550" cy="3006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nvSpPr>
        <p:spPr>
          <a:xfrm>
            <a:off x="0" y="432450"/>
            <a:ext cx="10938000" cy="887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  Dataset &amp; Data Preprocessing</a:t>
            </a:r>
            <a:endParaRPr b="1" i="0" sz="400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0000"/>
              </a:solidFill>
              <a:latin typeface="Times New Roman"/>
              <a:ea typeface="Times New Roman"/>
              <a:cs typeface="Times New Roman"/>
              <a:sym typeface="Times New Roman"/>
            </a:endParaRPr>
          </a:p>
        </p:txBody>
      </p:sp>
      <p:sp>
        <p:nvSpPr>
          <p:cNvPr id="134" name="Google Shape;134;p18"/>
          <p:cNvSpPr txBox="1"/>
          <p:nvPr/>
        </p:nvSpPr>
        <p:spPr>
          <a:xfrm>
            <a:off x="5263525" y="1207125"/>
            <a:ext cx="6464400" cy="2682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rPr b="1" lang="en-US" sz="1700">
                <a:solidFill>
                  <a:schemeClr val="dk1"/>
                </a:solidFill>
              </a:rPr>
              <a:t>Dataset Overview</a:t>
            </a:r>
            <a:endParaRPr b="1" sz="1700">
              <a:solidFill>
                <a:schemeClr val="dk1"/>
              </a:solidFill>
            </a:endParaRPr>
          </a:p>
          <a:p>
            <a:pPr indent="-317500" lvl="0" marL="457200" rtl="0" algn="l">
              <a:lnSpc>
                <a:spcPct val="115000"/>
              </a:lnSpc>
              <a:spcBef>
                <a:spcPts val="1200"/>
              </a:spcBef>
              <a:spcAft>
                <a:spcPts val="0"/>
              </a:spcAft>
              <a:buClr>
                <a:schemeClr val="dk1"/>
              </a:buClr>
              <a:buSzPts val="1400"/>
              <a:buFont typeface="Calibri"/>
              <a:buChar char="●"/>
            </a:pPr>
            <a:r>
              <a:rPr lang="en-US">
                <a:solidFill>
                  <a:schemeClr val="dk1"/>
                </a:solidFill>
                <a:latin typeface="Calibri"/>
                <a:ea typeface="Calibri"/>
                <a:cs typeface="Calibri"/>
                <a:sym typeface="Calibri"/>
              </a:rPr>
              <a:t>The final dataset contains 781 GitHub repository records and 7 columns.</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The key fields include Category, Topic, Repository, Owner, Language, Stars, and Repository URL.</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The dataset was examined for its structure, data types, missing values, and duplicate records.</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The scraped data was cleaned and prepared for Exploratory Data Analysis and visualization.</a:t>
            </a:r>
            <a:endParaRPr>
              <a:solidFill>
                <a:schemeClr val="dk1"/>
              </a:solidFill>
              <a:latin typeface="Calibri"/>
              <a:ea typeface="Calibri"/>
              <a:cs typeface="Calibri"/>
              <a:sym typeface="Calibri"/>
            </a:endParaRPr>
          </a:p>
          <a:p>
            <a:pPr indent="0" lvl="0" marL="457200" marR="0" rtl="0" algn="l">
              <a:lnSpc>
                <a:spcPct val="100000"/>
              </a:lnSpc>
              <a:spcBef>
                <a:spcPts val="1200"/>
              </a:spcBef>
              <a:spcAft>
                <a:spcPts val="0"/>
              </a:spcAft>
              <a:buClr>
                <a:srgbClr val="000000"/>
              </a:buClr>
              <a:buSzPts val="1600"/>
              <a:buFont typeface="Arial"/>
              <a:buNone/>
            </a:pPr>
            <a:r>
              <a:t/>
            </a:r>
            <a:endParaRPr b="1" sz="1600"/>
          </a:p>
        </p:txBody>
      </p:sp>
      <p:sp>
        <p:nvSpPr>
          <p:cNvPr id="135" name="Google Shape;135;p18"/>
          <p:cNvSpPr txBox="1"/>
          <p:nvPr/>
        </p:nvSpPr>
        <p:spPr>
          <a:xfrm>
            <a:off x="152405" y="3665688"/>
            <a:ext cx="5079900" cy="29652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1800"/>
              </a:spcBef>
              <a:spcAft>
                <a:spcPts val="0"/>
              </a:spcAft>
              <a:buClr>
                <a:schemeClr val="dk1"/>
              </a:buClr>
              <a:buSzPts val="1100"/>
              <a:buFont typeface="Arial"/>
              <a:buNone/>
            </a:pPr>
            <a:r>
              <a:rPr b="1" i="0" lang="en-US" sz="1900" u="none" cap="none" strike="noStrike">
                <a:solidFill>
                  <a:schemeClr val="dk1"/>
                </a:solidFill>
                <a:latin typeface="Calibri"/>
                <a:ea typeface="Calibri"/>
                <a:cs typeface="Calibri"/>
                <a:sym typeface="Calibri"/>
              </a:rPr>
              <a:t>Data Preprocessing</a:t>
            </a:r>
            <a:endParaRPr b="1" i="0" sz="1900" u="none" cap="none" strike="noStrike">
              <a:solidFill>
                <a:schemeClr val="dk1"/>
              </a:solidFill>
              <a:latin typeface="Calibri"/>
              <a:ea typeface="Calibri"/>
              <a:cs typeface="Calibri"/>
              <a:sym typeface="Calibri"/>
            </a:endParaRPr>
          </a:p>
          <a:p>
            <a:pPr indent="-304800" lvl="0" marL="457200" rtl="0" algn="l">
              <a:lnSpc>
                <a:spcPct val="115000"/>
              </a:lnSpc>
              <a:spcBef>
                <a:spcPts val="1200"/>
              </a:spcBef>
              <a:spcAft>
                <a:spcPts val="0"/>
              </a:spcAft>
              <a:buClr>
                <a:schemeClr val="dk1"/>
              </a:buClr>
              <a:buSzPts val="1200"/>
              <a:buChar char="●"/>
            </a:pPr>
            <a:r>
              <a:rPr b="1" lang="en-US">
                <a:solidFill>
                  <a:schemeClr val="dk1"/>
                </a:solidFill>
                <a:latin typeface="Calibri"/>
                <a:ea typeface="Calibri"/>
                <a:cs typeface="Calibri"/>
                <a:sym typeface="Calibri"/>
              </a:rPr>
              <a:t>Identified and handled missing values.</a:t>
            </a:r>
            <a:endParaRPr b="1">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b="1" lang="en-US">
                <a:solidFill>
                  <a:schemeClr val="dk1"/>
                </a:solidFill>
                <a:latin typeface="Calibri"/>
                <a:ea typeface="Calibri"/>
                <a:cs typeface="Calibri"/>
                <a:sym typeface="Calibri"/>
              </a:rPr>
              <a:t>Checked for duplicate records.</a:t>
            </a:r>
            <a:endParaRPr b="1">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b="1" lang="en-US">
                <a:solidFill>
                  <a:schemeClr val="dk1"/>
                </a:solidFill>
                <a:latin typeface="Calibri"/>
                <a:ea typeface="Calibri"/>
                <a:cs typeface="Calibri"/>
                <a:sym typeface="Calibri"/>
              </a:rPr>
              <a:t>Checked for invalid values such as negative Stars.</a:t>
            </a:r>
            <a:endParaRPr b="1">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b="1" lang="en-US">
                <a:solidFill>
                  <a:schemeClr val="dk1"/>
                </a:solidFill>
                <a:latin typeface="Calibri"/>
                <a:ea typeface="Calibri"/>
                <a:cs typeface="Calibri"/>
                <a:sym typeface="Calibri"/>
              </a:rPr>
              <a:t>Cleaned categorical data by removing unwanted spaces and inconsistencies.</a:t>
            </a:r>
            <a:endParaRPr b="1">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b="1" lang="en-US">
                <a:solidFill>
                  <a:schemeClr val="dk1"/>
                </a:solidFill>
                <a:latin typeface="Calibri"/>
                <a:ea typeface="Calibri"/>
                <a:cs typeface="Calibri"/>
                <a:sym typeface="Calibri"/>
              </a:rPr>
              <a:t>Detected potential numerical outliers in Stars using the IQR method.</a:t>
            </a:r>
            <a:endParaRPr b="1">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b="1" lang="en-US">
                <a:solidFill>
                  <a:schemeClr val="dk1"/>
                </a:solidFill>
                <a:latin typeface="Calibri"/>
                <a:ea typeface="Calibri"/>
                <a:cs typeface="Calibri"/>
                <a:sym typeface="Calibri"/>
              </a:rPr>
              <a:t>Validated the cleaned dataset before EDA.</a:t>
            </a:r>
            <a:endParaRPr b="1">
              <a:solidFill>
                <a:schemeClr val="dk1"/>
              </a:solidFill>
              <a:latin typeface="Calibri"/>
              <a:ea typeface="Calibri"/>
              <a:cs typeface="Calibri"/>
              <a:sym typeface="Calibri"/>
            </a:endParaRPr>
          </a:p>
          <a:p>
            <a:pPr indent="0" lvl="0" marL="457200" marR="0" rtl="0" algn="just">
              <a:lnSpc>
                <a:spcPct val="100000"/>
              </a:lnSpc>
              <a:spcBef>
                <a:spcPts val="120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pic>
        <p:nvPicPr>
          <p:cNvPr id="136" name="Google Shape;136;p18" title="Screenshot 2026-09-04 090543.png"/>
          <p:cNvPicPr preferRelativeResize="0"/>
          <p:nvPr/>
        </p:nvPicPr>
        <p:blipFill>
          <a:blip r:embed="rId3">
            <a:alphaModFix/>
          </a:blip>
          <a:stretch>
            <a:fillRect/>
          </a:stretch>
        </p:blipFill>
        <p:spPr>
          <a:xfrm>
            <a:off x="152400" y="1207124"/>
            <a:ext cx="4958724" cy="2143500"/>
          </a:xfrm>
          <a:prstGeom prst="rect">
            <a:avLst/>
          </a:prstGeom>
          <a:noFill/>
          <a:ln>
            <a:noFill/>
          </a:ln>
        </p:spPr>
      </p:pic>
      <p:pic>
        <p:nvPicPr>
          <p:cNvPr id="137" name="Google Shape;137;p18" title="Screenshot 2026-09-04 090637.png"/>
          <p:cNvPicPr preferRelativeResize="0"/>
          <p:nvPr/>
        </p:nvPicPr>
        <p:blipFill>
          <a:blip r:embed="rId4">
            <a:alphaModFix/>
          </a:blip>
          <a:stretch>
            <a:fillRect/>
          </a:stretch>
        </p:blipFill>
        <p:spPr>
          <a:xfrm>
            <a:off x="6392425" y="3940150"/>
            <a:ext cx="5414150" cy="2416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nvSpPr>
        <p:spPr>
          <a:xfrm>
            <a:off x="0" y="530225"/>
            <a:ext cx="11119500" cy="887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  Exploratory Data Analysis</a:t>
            </a:r>
            <a:endParaRPr b="1" i="0" sz="4000" u="none" cap="none" strike="noStrike">
              <a:solidFill>
                <a:srgbClr val="FF0000"/>
              </a:solidFill>
              <a:latin typeface="Times New Roman"/>
              <a:ea typeface="Times New Roman"/>
              <a:cs typeface="Times New Roman"/>
              <a:sym typeface="Times New Roman"/>
            </a:endParaRPr>
          </a:p>
        </p:txBody>
      </p:sp>
      <p:sp>
        <p:nvSpPr>
          <p:cNvPr id="143" name="Google Shape;143;p19"/>
          <p:cNvSpPr txBox="1"/>
          <p:nvPr/>
        </p:nvSpPr>
        <p:spPr>
          <a:xfrm>
            <a:off x="717550" y="1443677"/>
            <a:ext cx="5079900" cy="1979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400"/>
              </a:spcBef>
              <a:spcAft>
                <a:spcPts val="0"/>
              </a:spcAft>
              <a:buClr>
                <a:srgbClr val="000000"/>
              </a:buClr>
              <a:buSzPts val="1600"/>
              <a:buFont typeface="Arial"/>
              <a:buNone/>
            </a:pPr>
            <a:r>
              <a:rPr b="1" lang="en-US" sz="1900">
                <a:solidFill>
                  <a:schemeClr val="dk1"/>
                </a:solidFill>
                <a:latin typeface="Calibri"/>
                <a:ea typeface="Calibri"/>
                <a:cs typeface="Calibri"/>
                <a:sym typeface="Calibri"/>
              </a:rPr>
              <a:t>Repository Popularity </a:t>
            </a:r>
            <a:endParaRPr b="1" i="0" sz="1900" u="none" cap="none" strike="noStrike">
              <a:solidFill>
                <a:schemeClr val="dk1"/>
              </a:solidFill>
              <a:latin typeface="Calibri"/>
              <a:ea typeface="Calibri"/>
              <a:cs typeface="Calibri"/>
              <a:sym typeface="Calibri"/>
            </a:endParaRPr>
          </a:p>
          <a:p>
            <a:pPr indent="-317500" lvl="0" marL="457200" marR="0" rtl="0" algn="just">
              <a:lnSpc>
                <a:spcPct val="115000"/>
              </a:lnSpc>
              <a:spcBef>
                <a:spcPts val="1400"/>
              </a:spcBef>
              <a:spcAft>
                <a:spcPts val="0"/>
              </a:spcAft>
              <a:buClr>
                <a:schemeClr val="dk1"/>
              </a:buClr>
              <a:buSzPts val="1400"/>
              <a:buFont typeface="Calibri"/>
              <a:buChar char="●"/>
            </a:pPr>
            <a:r>
              <a:rPr i="0" lang="en-US" sz="1400" u="none" cap="none" strike="noStrike">
                <a:solidFill>
                  <a:schemeClr val="dk1"/>
                </a:solidFill>
                <a:latin typeface="Calibri"/>
                <a:ea typeface="Calibri"/>
                <a:cs typeface="Calibri"/>
                <a:sym typeface="Calibri"/>
              </a:rPr>
              <a:t>Stars</a:t>
            </a:r>
            <a:r>
              <a:rPr lang="en-US">
                <a:solidFill>
                  <a:schemeClr val="dk1"/>
                </a:solidFill>
                <a:latin typeface="Calibri"/>
                <a:ea typeface="Calibri"/>
                <a:cs typeface="Calibri"/>
                <a:sym typeface="Calibri"/>
              </a:rPr>
              <a:t> </a:t>
            </a:r>
            <a:r>
              <a:rPr i="0" lang="en-US" sz="1400" u="none" cap="none" strike="noStrike">
                <a:solidFill>
                  <a:schemeClr val="dk1"/>
                </a:solidFill>
                <a:latin typeface="Calibri"/>
                <a:ea typeface="Calibri"/>
                <a:cs typeface="Calibri"/>
                <a:sym typeface="Calibri"/>
              </a:rPr>
              <a:t>show large variation across repositories.</a:t>
            </a:r>
            <a:endParaRPr i="0" sz="1400" u="none" cap="none" strike="noStrike">
              <a:solidFill>
                <a:schemeClr val="dk1"/>
              </a:solidFill>
              <a:latin typeface="Calibri"/>
              <a:ea typeface="Calibri"/>
              <a:cs typeface="Calibri"/>
              <a:sym typeface="Calibri"/>
            </a:endParaRPr>
          </a:p>
          <a:p>
            <a:pPr indent="-317500" lvl="0" marL="457200" marR="0" rtl="0" algn="just">
              <a:lnSpc>
                <a:spcPct val="115000"/>
              </a:lnSpc>
              <a:spcBef>
                <a:spcPts val="0"/>
              </a:spcBef>
              <a:spcAft>
                <a:spcPts val="0"/>
              </a:spcAft>
              <a:buClr>
                <a:schemeClr val="dk1"/>
              </a:buClr>
              <a:buSzPts val="1400"/>
              <a:buFont typeface="Calibri"/>
              <a:buChar char="●"/>
            </a:pPr>
            <a:r>
              <a:rPr i="0" lang="en-US" sz="1400" u="none" cap="none" strike="noStrike">
                <a:solidFill>
                  <a:schemeClr val="dk1"/>
                </a:solidFill>
                <a:latin typeface="Calibri"/>
                <a:ea typeface="Calibri"/>
                <a:cs typeface="Calibri"/>
                <a:sym typeface="Calibri"/>
              </a:rPr>
              <a:t>Highly popular repositories have much higher </a:t>
            </a:r>
            <a:r>
              <a:rPr lang="en-US">
                <a:solidFill>
                  <a:schemeClr val="dk1"/>
                </a:solidFill>
                <a:latin typeface="Calibri"/>
                <a:ea typeface="Calibri"/>
                <a:cs typeface="Calibri"/>
                <a:sym typeface="Calibri"/>
              </a:rPr>
              <a:t>stars counts</a:t>
            </a:r>
            <a:r>
              <a:rPr i="0" lang="en-US" sz="1400" u="none" cap="none" strike="noStrike">
                <a:solidFill>
                  <a:schemeClr val="dk1"/>
                </a:solidFill>
                <a:latin typeface="Calibri"/>
                <a:ea typeface="Calibri"/>
                <a:cs typeface="Calibri"/>
                <a:sym typeface="Calibri"/>
              </a:rPr>
              <a:t>.</a:t>
            </a:r>
            <a:endParaRPr i="0" sz="1400" u="none" cap="none" strike="noStrike">
              <a:solidFill>
                <a:schemeClr val="dk1"/>
              </a:solidFill>
              <a:latin typeface="Calibri"/>
              <a:ea typeface="Calibri"/>
              <a:cs typeface="Calibri"/>
              <a:sym typeface="Calibri"/>
            </a:endParaRPr>
          </a:p>
          <a:p>
            <a:pPr indent="-317500" lvl="0" marL="457200" marR="0" rtl="0" algn="just">
              <a:lnSpc>
                <a:spcPct val="115000"/>
              </a:lnSpc>
              <a:spcBef>
                <a:spcPts val="0"/>
              </a:spcBef>
              <a:spcAft>
                <a:spcPts val="0"/>
              </a:spcAft>
              <a:buClr>
                <a:schemeClr val="dk1"/>
              </a:buClr>
              <a:buSzPts val="1400"/>
              <a:buFont typeface="Calibri"/>
              <a:buChar char="●"/>
            </a:pPr>
            <a:r>
              <a:rPr i="0" lang="en-US" sz="1400" u="none" cap="none" strike="noStrike">
                <a:solidFill>
                  <a:schemeClr val="dk1"/>
                </a:solidFill>
                <a:latin typeface="Calibri"/>
                <a:ea typeface="Calibri"/>
                <a:cs typeface="Calibri"/>
                <a:sym typeface="Calibri"/>
              </a:rPr>
              <a:t>This shows that GitHub repositories have different levels of popularity and developer activity.</a:t>
            </a:r>
            <a:endParaRPr i="0" sz="1400" u="none" cap="none" strike="noStrike">
              <a:solidFill>
                <a:schemeClr val="dk1"/>
              </a:solidFill>
              <a:latin typeface="Calibri"/>
              <a:ea typeface="Calibri"/>
              <a:cs typeface="Calibri"/>
              <a:sym typeface="Calibri"/>
            </a:endParaRPr>
          </a:p>
          <a:p>
            <a:pPr indent="0" lvl="0" marL="0" marR="0" rtl="0" algn="l">
              <a:lnSpc>
                <a:spcPct val="115000"/>
              </a:lnSpc>
              <a:spcBef>
                <a:spcPts val="1400"/>
              </a:spcBef>
              <a:spcAft>
                <a:spcPts val="40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p:txBody>
      </p:sp>
      <p:sp>
        <p:nvSpPr>
          <p:cNvPr id="144" name="Google Shape;144;p19"/>
          <p:cNvSpPr txBox="1"/>
          <p:nvPr/>
        </p:nvSpPr>
        <p:spPr>
          <a:xfrm>
            <a:off x="6039485" y="4102735"/>
            <a:ext cx="5079900" cy="2221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400"/>
              </a:spcBef>
              <a:spcAft>
                <a:spcPts val="0"/>
              </a:spcAft>
              <a:buClr>
                <a:schemeClr val="dk1"/>
              </a:buClr>
              <a:buSzPts val="1100"/>
              <a:buFont typeface="Arial"/>
              <a:buNone/>
            </a:pPr>
            <a:r>
              <a:rPr b="1" i="0" lang="en-US" sz="1900" u="none" cap="none" strike="noStrike">
                <a:solidFill>
                  <a:schemeClr val="dk1"/>
                </a:solidFill>
                <a:latin typeface="Arial"/>
                <a:ea typeface="Arial"/>
                <a:cs typeface="Arial"/>
                <a:sym typeface="Arial"/>
              </a:rPr>
              <a:t>Central Tendency &amp; Dispersion</a:t>
            </a:r>
            <a:endParaRPr b="1" i="0" sz="19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Calibri"/>
              <a:buChar char="●"/>
            </a:pPr>
            <a:r>
              <a:rPr i="0" lang="en-US" u="none" cap="none" strike="noStrike">
                <a:solidFill>
                  <a:schemeClr val="dk1"/>
                </a:solidFill>
                <a:latin typeface="Calibri"/>
                <a:ea typeface="Calibri"/>
                <a:cs typeface="Calibri"/>
                <a:sym typeface="Calibri"/>
              </a:rPr>
              <a:t>Stars have a high average value.</a:t>
            </a:r>
            <a:endParaRPr i="0" u="none" cap="none" strike="noStrike">
              <a:solidFill>
                <a:schemeClr val="dk1"/>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Calibri"/>
              <a:buChar char="●"/>
            </a:pPr>
            <a:r>
              <a:rPr i="0" lang="en-US" u="none" cap="none" strike="noStrike">
                <a:solidFill>
                  <a:schemeClr val="dk1"/>
                </a:solidFill>
                <a:latin typeface="Calibri"/>
                <a:ea typeface="Calibri"/>
                <a:cs typeface="Calibri"/>
                <a:sym typeface="Calibri"/>
              </a:rPr>
              <a:t>Mean and median values are different, showing some highly popular repositories.</a:t>
            </a:r>
            <a:endParaRPr i="0" u="none" cap="none" strike="noStrike">
              <a:solidFill>
                <a:schemeClr val="dk1"/>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Calibri"/>
              <a:buChar char="●"/>
            </a:pPr>
            <a:r>
              <a:rPr i="0" lang="en-US" u="none" cap="none" strike="noStrike">
                <a:solidFill>
                  <a:schemeClr val="dk1"/>
                </a:solidFill>
                <a:latin typeface="Calibri"/>
                <a:ea typeface="Calibri"/>
                <a:cs typeface="Calibri"/>
                <a:sym typeface="Calibri"/>
              </a:rPr>
              <a:t>Stars show high variation across </a:t>
            </a:r>
            <a:r>
              <a:rPr lang="en-US">
                <a:solidFill>
                  <a:schemeClr val="dk1"/>
                </a:solidFill>
                <a:latin typeface="Calibri"/>
                <a:ea typeface="Calibri"/>
                <a:cs typeface="Calibri"/>
                <a:sym typeface="Calibri"/>
              </a:rPr>
              <a:t>the </a:t>
            </a:r>
            <a:r>
              <a:rPr i="0" lang="en-US" u="none" cap="none" strike="noStrike">
                <a:solidFill>
                  <a:schemeClr val="dk1"/>
                </a:solidFill>
                <a:latin typeface="Calibri"/>
                <a:ea typeface="Calibri"/>
                <a:cs typeface="Calibri"/>
                <a:sym typeface="Calibri"/>
              </a:rPr>
              <a:t> repositories.</a:t>
            </a:r>
            <a:endParaRPr i="0" u="none" cap="none" strike="noStrike">
              <a:solidFill>
                <a:schemeClr val="dk1"/>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Calibri"/>
              <a:buChar char="●"/>
            </a:pPr>
            <a:r>
              <a:rPr i="0" lang="en-US" u="none" cap="none" strike="noStrike">
                <a:solidFill>
                  <a:schemeClr val="dk1"/>
                </a:solidFill>
                <a:latin typeface="Calibri"/>
                <a:ea typeface="Calibri"/>
                <a:cs typeface="Calibri"/>
                <a:sym typeface="Calibri"/>
              </a:rPr>
              <a:t>This indicates different levels of</a:t>
            </a:r>
            <a:r>
              <a:rPr lang="en-US">
                <a:solidFill>
                  <a:schemeClr val="dk1"/>
                </a:solidFill>
                <a:latin typeface="Calibri"/>
                <a:ea typeface="Calibri"/>
                <a:cs typeface="Calibri"/>
                <a:sym typeface="Calibri"/>
              </a:rPr>
              <a:t> repositories popularities</a:t>
            </a:r>
            <a:endParaRPr i="0" u="none" cap="none" strike="noStrike">
              <a:solidFill>
                <a:schemeClr val="dk1"/>
              </a:solidFill>
              <a:latin typeface="Calibri"/>
              <a:ea typeface="Calibri"/>
              <a:cs typeface="Calibri"/>
              <a:sym typeface="Calibri"/>
            </a:endParaRPr>
          </a:p>
          <a:p>
            <a:pPr indent="0" lvl="0" marL="457200" marR="0" rtl="0" algn="l">
              <a:lnSpc>
                <a:spcPct val="100000"/>
              </a:lnSpc>
              <a:spcBef>
                <a:spcPts val="120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pic>
        <p:nvPicPr>
          <p:cNvPr id="145" name="Google Shape;145;p19" title="Screenshot 2026-08-26 193757.png"/>
          <p:cNvPicPr preferRelativeResize="0"/>
          <p:nvPr/>
        </p:nvPicPr>
        <p:blipFill rotWithShape="1">
          <a:blip r:embed="rId3">
            <a:alphaModFix/>
          </a:blip>
          <a:srcRect b="0" l="0" r="0" t="0"/>
          <a:stretch/>
        </p:blipFill>
        <p:spPr>
          <a:xfrm>
            <a:off x="6601925" y="1353800"/>
            <a:ext cx="4176250" cy="2379975"/>
          </a:xfrm>
          <a:prstGeom prst="rect">
            <a:avLst/>
          </a:prstGeom>
          <a:noFill/>
          <a:ln>
            <a:noFill/>
          </a:ln>
        </p:spPr>
      </p:pic>
      <p:pic>
        <p:nvPicPr>
          <p:cNvPr id="146" name="Google Shape;146;p19" title="Screenshot 2026-09-04 091246.png"/>
          <p:cNvPicPr preferRelativeResize="0"/>
          <p:nvPr/>
        </p:nvPicPr>
        <p:blipFill>
          <a:blip r:embed="rId4">
            <a:alphaModFix/>
          </a:blip>
          <a:stretch>
            <a:fillRect/>
          </a:stretch>
        </p:blipFill>
        <p:spPr>
          <a:xfrm>
            <a:off x="278125" y="3618900"/>
            <a:ext cx="5262300" cy="2918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0"/>
          <p:cNvSpPr txBox="1"/>
          <p:nvPr/>
        </p:nvSpPr>
        <p:spPr>
          <a:xfrm>
            <a:off x="0" y="521675"/>
            <a:ext cx="54288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  Univariate Analysis</a:t>
            </a:r>
            <a:endParaRPr b="0" i="0" sz="1400" u="none" cap="none" strike="noStrike">
              <a:solidFill>
                <a:srgbClr val="000000"/>
              </a:solidFill>
              <a:latin typeface="Arial"/>
              <a:ea typeface="Arial"/>
              <a:cs typeface="Arial"/>
              <a:sym typeface="Arial"/>
            </a:endParaRPr>
          </a:p>
        </p:txBody>
      </p:sp>
      <p:pic>
        <p:nvPicPr>
          <p:cNvPr id="153" name="Google Shape;153;p20" title="Screenshot 2026-08-26 194308.png"/>
          <p:cNvPicPr preferRelativeResize="0"/>
          <p:nvPr/>
        </p:nvPicPr>
        <p:blipFill rotWithShape="1">
          <a:blip r:embed="rId3">
            <a:alphaModFix/>
          </a:blip>
          <a:srcRect b="0" l="0" r="0" t="0"/>
          <a:stretch/>
        </p:blipFill>
        <p:spPr>
          <a:xfrm>
            <a:off x="326575" y="1322075"/>
            <a:ext cx="3705350" cy="2647950"/>
          </a:xfrm>
          <a:prstGeom prst="rect">
            <a:avLst/>
          </a:prstGeom>
          <a:noFill/>
          <a:ln>
            <a:noFill/>
          </a:ln>
        </p:spPr>
      </p:pic>
      <p:sp>
        <p:nvSpPr>
          <p:cNvPr id="154" name="Google Shape;154;p20"/>
          <p:cNvSpPr txBox="1"/>
          <p:nvPr/>
        </p:nvSpPr>
        <p:spPr>
          <a:xfrm>
            <a:off x="5489225" y="1322075"/>
            <a:ext cx="5554500" cy="1846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US" sz="1700" u="none" cap="none" strike="noStrike">
                <a:solidFill>
                  <a:schemeClr val="dk1"/>
                </a:solidFill>
                <a:latin typeface="Arial"/>
                <a:ea typeface="Arial"/>
                <a:cs typeface="Arial"/>
                <a:sym typeface="Arial"/>
              </a:rPr>
              <a:t>Distribution of Stars</a:t>
            </a:r>
            <a:endParaRPr b="1" sz="1600">
              <a:solidFill>
                <a:schemeClr val="dk1"/>
              </a:solidFill>
              <a:latin typeface="Calibri"/>
              <a:ea typeface="Calibri"/>
              <a:cs typeface="Calibri"/>
              <a:sym typeface="Calibri"/>
            </a:endParaRPr>
          </a:p>
          <a:p>
            <a:pPr indent="-317500" lvl="0" marL="457200" marR="0" rtl="0" algn="l">
              <a:lnSpc>
                <a:spcPct val="115000"/>
              </a:lnSpc>
              <a:spcBef>
                <a:spcPts val="1200"/>
              </a:spcBef>
              <a:spcAft>
                <a:spcPts val="0"/>
              </a:spcAft>
              <a:buClr>
                <a:schemeClr val="dk1"/>
              </a:buClr>
              <a:buSzPts val="1400"/>
              <a:buFont typeface="Calibri"/>
              <a:buChar char="●"/>
            </a:pPr>
            <a:r>
              <a:rPr i="0" lang="en-US" sz="1400" u="none" cap="none" strike="noStrike">
                <a:solidFill>
                  <a:schemeClr val="dk1"/>
                </a:solidFill>
                <a:latin typeface="Calibri"/>
                <a:ea typeface="Calibri"/>
                <a:cs typeface="Calibri"/>
                <a:sym typeface="Calibri"/>
              </a:rPr>
              <a:t>Most repositories have fewer stars.</a:t>
            </a:r>
            <a:endParaRPr i="0" sz="1400" u="none" cap="none" strike="noStrike">
              <a:solidFill>
                <a:schemeClr val="dk1"/>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Calibri"/>
              <a:buChar char="●"/>
            </a:pPr>
            <a:r>
              <a:rPr i="0" lang="en-US" sz="1400" u="none" cap="none" strike="noStrike">
                <a:solidFill>
                  <a:schemeClr val="dk1"/>
                </a:solidFill>
                <a:latin typeface="Calibri"/>
                <a:ea typeface="Calibri"/>
                <a:cs typeface="Calibri"/>
                <a:sym typeface="Calibri"/>
              </a:rPr>
              <a:t>Only a small number of repositories have very high stars.</a:t>
            </a:r>
            <a:endParaRPr i="0" sz="1400" u="none" cap="none" strike="noStrike">
              <a:solidFill>
                <a:schemeClr val="dk1"/>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Calibri"/>
              <a:buChar char="●"/>
            </a:pPr>
            <a:r>
              <a:rPr i="0" lang="en-US" sz="1400" u="none" cap="none" strike="noStrike">
                <a:solidFill>
                  <a:schemeClr val="dk1"/>
                </a:solidFill>
                <a:latin typeface="Calibri"/>
                <a:ea typeface="Calibri"/>
                <a:cs typeface="Calibri"/>
                <a:sym typeface="Calibri"/>
              </a:rPr>
              <a:t>This shows that GitHub star counts are highly varied.</a:t>
            </a:r>
            <a:endParaRPr i="0" sz="1400" u="none" cap="none" strike="noStrike">
              <a:solidFill>
                <a:schemeClr val="dk1"/>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Calibri"/>
              <a:buChar char="●"/>
            </a:pPr>
            <a:r>
              <a:rPr i="0" lang="en-US" sz="1400" u="none" cap="none" strike="noStrike">
                <a:solidFill>
                  <a:schemeClr val="dk1"/>
                </a:solidFill>
                <a:latin typeface="Calibri"/>
                <a:ea typeface="Calibri"/>
                <a:cs typeface="Calibri"/>
                <a:sym typeface="Calibri"/>
              </a:rPr>
              <a:t>A few popular repositories have much higher popularity than others.</a:t>
            </a:r>
            <a:endParaRPr i="0" sz="1600" u="none" cap="none" strike="noStrike">
              <a:solidFill>
                <a:schemeClr val="dk1"/>
              </a:solidFill>
              <a:latin typeface="Calibri"/>
              <a:ea typeface="Calibri"/>
              <a:cs typeface="Calibri"/>
              <a:sym typeface="Calibri"/>
            </a:endParaRPr>
          </a:p>
        </p:txBody>
      </p:sp>
      <p:pic>
        <p:nvPicPr>
          <p:cNvPr id="155" name="Google Shape;155;p20" title="Screenshot 2026-08-26 194748.png"/>
          <p:cNvPicPr preferRelativeResize="0"/>
          <p:nvPr/>
        </p:nvPicPr>
        <p:blipFill rotWithShape="1">
          <a:blip r:embed="rId4">
            <a:alphaModFix/>
          </a:blip>
          <a:srcRect b="0" l="0" r="0" t="0"/>
          <a:stretch/>
        </p:blipFill>
        <p:spPr>
          <a:xfrm>
            <a:off x="6406375" y="3549650"/>
            <a:ext cx="3910875" cy="2552800"/>
          </a:xfrm>
          <a:prstGeom prst="rect">
            <a:avLst/>
          </a:prstGeom>
          <a:noFill/>
          <a:ln>
            <a:noFill/>
          </a:ln>
        </p:spPr>
      </p:pic>
      <p:sp>
        <p:nvSpPr>
          <p:cNvPr id="156" name="Google Shape;156;p20"/>
          <p:cNvSpPr txBox="1"/>
          <p:nvPr/>
        </p:nvSpPr>
        <p:spPr>
          <a:xfrm>
            <a:off x="326575" y="3970025"/>
            <a:ext cx="4976400" cy="2648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US" sz="1700" u="none" cap="none" strike="noStrike">
                <a:solidFill>
                  <a:schemeClr val="dk1"/>
                </a:solidFill>
                <a:latin typeface="Arial"/>
                <a:ea typeface="Arial"/>
                <a:cs typeface="Arial"/>
                <a:sym typeface="Arial"/>
              </a:rPr>
              <a:t>Top 10 Programming Languages</a:t>
            </a:r>
            <a:endParaRPr b="1" i="0" sz="17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Calibri"/>
              <a:buChar char="●"/>
            </a:pPr>
            <a:r>
              <a:rPr i="0" lang="en-US" sz="1400" u="none" cap="none" strike="noStrike">
                <a:solidFill>
                  <a:schemeClr val="dk1"/>
                </a:solidFill>
                <a:latin typeface="Calibri"/>
                <a:ea typeface="Calibri"/>
                <a:cs typeface="Calibri"/>
                <a:sym typeface="Calibri"/>
              </a:rPr>
              <a:t>TypeScript has the highest number of repositories in the dataset.</a:t>
            </a:r>
            <a:endParaRPr i="0" sz="1400" u="none" cap="none" strike="noStrike">
              <a:solidFill>
                <a:schemeClr val="dk1"/>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Calibri"/>
              <a:buChar char="●"/>
            </a:pPr>
            <a:r>
              <a:rPr i="0" lang="en-US" sz="1400" u="none" cap="none" strike="noStrike">
                <a:solidFill>
                  <a:schemeClr val="dk1"/>
                </a:solidFill>
                <a:latin typeface="Calibri"/>
                <a:ea typeface="Calibri"/>
                <a:cs typeface="Calibri"/>
                <a:sym typeface="Calibri"/>
              </a:rPr>
              <a:t>Python and JavaScript are also widely used.</a:t>
            </a:r>
            <a:endParaRPr i="0" sz="1400" u="none" cap="none" strike="noStrike">
              <a:solidFill>
                <a:schemeClr val="dk1"/>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Calibri"/>
              <a:buChar char="●"/>
            </a:pPr>
            <a:r>
              <a:rPr i="0" lang="en-US" sz="1400" u="none" cap="none" strike="noStrike">
                <a:solidFill>
                  <a:schemeClr val="dk1"/>
                </a:solidFill>
                <a:latin typeface="Calibri"/>
                <a:ea typeface="Calibri"/>
                <a:cs typeface="Calibri"/>
                <a:sym typeface="Calibri"/>
              </a:rPr>
              <a:t>Languages like Go, Java, PHP, and C++ have fewer repositories compared to the top languages.</a:t>
            </a:r>
            <a:endParaRPr i="0" sz="1400" u="none" cap="none" strike="noStrike">
              <a:solidFill>
                <a:schemeClr val="dk1"/>
              </a:solidFill>
              <a:latin typeface="Calibri"/>
              <a:ea typeface="Calibri"/>
              <a:cs typeface="Calibri"/>
              <a:sym typeface="Calibri"/>
            </a:endParaRPr>
          </a:p>
          <a:p>
            <a:pPr indent="-317500" lvl="0" marL="457200" marR="0" rtl="0" algn="l">
              <a:lnSpc>
                <a:spcPct val="115000"/>
              </a:lnSpc>
              <a:spcBef>
                <a:spcPts val="0"/>
              </a:spcBef>
              <a:spcAft>
                <a:spcPts val="0"/>
              </a:spcAft>
              <a:buClr>
                <a:schemeClr val="dk1"/>
              </a:buClr>
              <a:buSzPts val="1400"/>
              <a:buFont typeface="Calibri"/>
              <a:buChar char="●"/>
            </a:pPr>
            <a:r>
              <a:rPr i="0" lang="en-US" sz="1400" u="none" cap="none" strike="noStrike">
                <a:solidFill>
                  <a:schemeClr val="dk1"/>
                </a:solidFill>
                <a:latin typeface="Calibri"/>
                <a:ea typeface="Calibri"/>
                <a:cs typeface="Calibri"/>
                <a:sym typeface="Calibri"/>
              </a:rPr>
              <a:t>TypeScript, Python, and JavaScript are the most represented languages in this dataset.</a:t>
            </a:r>
            <a:endParaRPr i="0" sz="140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1"/>
          <p:cNvSpPr txBox="1"/>
          <p:nvPr/>
        </p:nvSpPr>
        <p:spPr>
          <a:xfrm>
            <a:off x="0" y="530225"/>
            <a:ext cx="11119500" cy="887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  Bivariate Analysis</a:t>
            </a:r>
            <a:endParaRPr b="0" i="0" sz="1400" u="none" cap="none" strike="noStrike">
              <a:solidFill>
                <a:srgbClr val="000000"/>
              </a:solidFill>
              <a:latin typeface="Arial"/>
              <a:ea typeface="Arial"/>
              <a:cs typeface="Arial"/>
              <a:sym typeface="Arial"/>
            </a:endParaRPr>
          </a:p>
        </p:txBody>
      </p:sp>
      <p:sp>
        <p:nvSpPr>
          <p:cNvPr id="162" name="Google Shape;162;p21"/>
          <p:cNvSpPr txBox="1"/>
          <p:nvPr/>
        </p:nvSpPr>
        <p:spPr>
          <a:xfrm>
            <a:off x="6124570" y="1417945"/>
            <a:ext cx="5079900" cy="17847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1400"/>
              </a:spcBef>
              <a:spcAft>
                <a:spcPts val="0"/>
              </a:spcAft>
              <a:buClr>
                <a:srgbClr val="000000"/>
              </a:buClr>
              <a:buSzPts val="1500"/>
              <a:buFont typeface="Arial"/>
              <a:buNone/>
            </a:pPr>
            <a:r>
              <a:rPr b="1" i="0" lang="en-US" sz="1700" u="none" cap="none" strike="noStrike">
                <a:solidFill>
                  <a:schemeClr val="dk1"/>
                </a:solidFill>
                <a:latin typeface="Arial"/>
                <a:ea typeface="Arial"/>
                <a:cs typeface="Arial"/>
                <a:sym typeface="Arial"/>
              </a:rPr>
              <a:t>Average Stars by Category</a:t>
            </a:r>
            <a:endParaRPr b="1" i="0" sz="1700" u="none" cap="none" strike="noStrike">
              <a:solidFill>
                <a:schemeClr val="dk1"/>
              </a:solidFill>
              <a:latin typeface="Arial"/>
              <a:ea typeface="Arial"/>
              <a:cs typeface="Arial"/>
              <a:sym typeface="Arial"/>
            </a:endParaRPr>
          </a:p>
          <a:p>
            <a:pPr indent="-317500" lvl="0" marL="457200" marR="0" rtl="0" algn="just">
              <a:lnSpc>
                <a:spcPct val="115000"/>
              </a:lnSpc>
              <a:spcBef>
                <a:spcPts val="1200"/>
              </a:spcBef>
              <a:spcAft>
                <a:spcPts val="0"/>
              </a:spcAft>
              <a:buClr>
                <a:schemeClr val="dk1"/>
              </a:buClr>
              <a:buSzPts val="1400"/>
              <a:buChar char="●"/>
            </a:pPr>
            <a:r>
              <a:rPr i="0" lang="en-US" sz="1400" u="none" cap="none" strike="noStrike">
                <a:solidFill>
                  <a:schemeClr val="dk1"/>
                </a:solidFill>
                <a:latin typeface="Calibri"/>
                <a:ea typeface="Calibri"/>
                <a:cs typeface="Calibri"/>
                <a:sym typeface="Calibri"/>
              </a:rPr>
              <a:t>Web Development has the highest average stars.</a:t>
            </a:r>
            <a:endParaRPr i="0" sz="1400" u="none" cap="none" strike="noStrike">
              <a:solidFill>
                <a:schemeClr val="dk1"/>
              </a:solidFill>
              <a:latin typeface="Calibri"/>
              <a:ea typeface="Calibri"/>
              <a:cs typeface="Calibri"/>
              <a:sym typeface="Calibri"/>
            </a:endParaRPr>
          </a:p>
          <a:p>
            <a:pPr indent="-317500" lvl="0" marL="457200" marR="0" rtl="0" algn="just">
              <a:lnSpc>
                <a:spcPct val="115000"/>
              </a:lnSpc>
              <a:spcBef>
                <a:spcPts val="0"/>
              </a:spcBef>
              <a:spcAft>
                <a:spcPts val="0"/>
              </a:spcAft>
              <a:buClr>
                <a:schemeClr val="dk1"/>
              </a:buClr>
              <a:buSzPts val="1400"/>
              <a:buChar char="●"/>
            </a:pPr>
            <a:r>
              <a:rPr i="0" lang="en-US" sz="1400" u="none" cap="none" strike="noStrike">
                <a:solidFill>
                  <a:schemeClr val="dk1"/>
                </a:solidFill>
                <a:latin typeface="Calibri"/>
                <a:ea typeface="Calibri"/>
                <a:cs typeface="Calibri"/>
                <a:sym typeface="Calibri"/>
              </a:rPr>
              <a:t>Data Science is the next highest category.</a:t>
            </a:r>
            <a:endParaRPr i="0" sz="1400" u="none" cap="none" strike="noStrike">
              <a:solidFill>
                <a:schemeClr val="dk1"/>
              </a:solidFill>
              <a:latin typeface="Calibri"/>
              <a:ea typeface="Calibri"/>
              <a:cs typeface="Calibri"/>
              <a:sym typeface="Calibri"/>
            </a:endParaRPr>
          </a:p>
          <a:p>
            <a:pPr indent="-317500" lvl="0" marL="457200" marR="0" rtl="0" algn="just">
              <a:lnSpc>
                <a:spcPct val="115000"/>
              </a:lnSpc>
              <a:spcBef>
                <a:spcPts val="0"/>
              </a:spcBef>
              <a:spcAft>
                <a:spcPts val="0"/>
              </a:spcAft>
              <a:buClr>
                <a:schemeClr val="dk1"/>
              </a:buClr>
              <a:buSzPts val="1400"/>
              <a:buChar char="●"/>
            </a:pPr>
            <a:r>
              <a:rPr i="0" lang="en-US" sz="1400" u="none" cap="none" strike="noStrike">
                <a:solidFill>
                  <a:schemeClr val="dk1"/>
                </a:solidFill>
                <a:latin typeface="Calibri"/>
                <a:ea typeface="Calibri"/>
                <a:cs typeface="Calibri"/>
                <a:sym typeface="Calibri"/>
              </a:rPr>
              <a:t>This shows that some technology categories have higher repository popularity than others.</a:t>
            </a:r>
            <a:endParaRPr i="0" sz="14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600"/>
              <a:buFont typeface="Arial"/>
              <a:buChar char="•"/>
            </a:pPr>
            <a:r>
              <a:t/>
            </a:r>
            <a:endParaRPr b="1" i="0" sz="1600" u="none" cap="none" strike="noStrike">
              <a:solidFill>
                <a:srgbClr val="000000"/>
              </a:solidFill>
              <a:latin typeface="Arial"/>
              <a:ea typeface="Arial"/>
              <a:cs typeface="Arial"/>
              <a:sym typeface="Arial"/>
            </a:endParaRPr>
          </a:p>
        </p:txBody>
      </p:sp>
      <p:sp>
        <p:nvSpPr>
          <p:cNvPr id="163" name="Google Shape;163;p21"/>
          <p:cNvSpPr txBox="1"/>
          <p:nvPr/>
        </p:nvSpPr>
        <p:spPr>
          <a:xfrm>
            <a:off x="717550" y="4059600"/>
            <a:ext cx="5311800" cy="2588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latin typeface="Calibri"/>
                <a:ea typeface="Calibri"/>
                <a:cs typeface="Calibri"/>
                <a:sym typeface="Calibri"/>
              </a:rPr>
              <a:t>Category-wise Repository Popularity</a:t>
            </a:r>
            <a:endParaRPr b="1" sz="1700">
              <a:solidFill>
                <a:schemeClr val="dk1"/>
              </a:solidFill>
              <a:latin typeface="Calibri"/>
              <a:ea typeface="Calibri"/>
              <a:cs typeface="Calibri"/>
              <a:sym typeface="Calibri"/>
            </a:endParaRPr>
          </a:p>
          <a:p>
            <a:pPr indent="-311150" lvl="0" marL="457200" rtl="0" algn="l">
              <a:lnSpc>
                <a:spcPct val="115000"/>
              </a:lnSpc>
              <a:spcBef>
                <a:spcPts val="1200"/>
              </a:spcBef>
              <a:spcAft>
                <a:spcPts val="0"/>
              </a:spcAft>
              <a:buClr>
                <a:schemeClr val="dk1"/>
              </a:buClr>
              <a:buSzPts val="1300"/>
              <a:buChar char="●"/>
            </a:pPr>
            <a:r>
              <a:rPr lang="en-US" sz="1300">
                <a:solidFill>
                  <a:schemeClr val="dk1"/>
                </a:solidFill>
              </a:rPr>
              <a:t>Web Development has the highest median Stars among the categories.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Data Science also shows relatively high repository popularity compared with most other categories.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Web Development and Data Science contain several highly popular repositories, visible as high-value outliers.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Cybersecurity, Full Stack, JavaScript Frameworks, and UI/UX generally have lower median Stars compared with Web Development.</a:t>
            </a:r>
            <a:endParaRPr sz="1300">
              <a:solidFill>
                <a:schemeClr val="dk1"/>
              </a:solidFill>
            </a:endParaRPr>
          </a:p>
        </p:txBody>
      </p:sp>
      <p:pic>
        <p:nvPicPr>
          <p:cNvPr id="164" name="Google Shape;164;p21" title="Screenshot 2026-08-26 195147.png"/>
          <p:cNvPicPr preferRelativeResize="0"/>
          <p:nvPr/>
        </p:nvPicPr>
        <p:blipFill rotWithShape="1">
          <a:blip r:embed="rId3">
            <a:alphaModFix/>
          </a:blip>
          <a:srcRect b="0" l="0" r="0" t="0"/>
          <a:stretch/>
        </p:blipFill>
        <p:spPr>
          <a:xfrm>
            <a:off x="717550" y="1417950"/>
            <a:ext cx="4122025" cy="2377775"/>
          </a:xfrm>
          <a:prstGeom prst="rect">
            <a:avLst/>
          </a:prstGeom>
          <a:noFill/>
          <a:ln>
            <a:noFill/>
          </a:ln>
        </p:spPr>
      </p:pic>
      <p:pic>
        <p:nvPicPr>
          <p:cNvPr id="165" name="Google Shape;165;p21" title="Screenshot 2026-09-04 091447.png"/>
          <p:cNvPicPr preferRelativeResize="0"/>
          <p:nvPr/>
        </p:nvPicPr>
        <p:blipFill>
          <a:blip r:embed="rId4">
            <a:alphaModFix/>
          </a:blip>
          <a:stretch>
            <a:fillRect/>
          </a:stretch>
        </p:blipFill>
        <p:spPr>
          <a:xfrm>
            <a:off x="6299025" y="3795724"/>
            <a:ext cx="5169650" cy="2466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txBox="1"/>
          <p:nvPr/>
        </p:nvSpPr>
        <p:spPr>
          <a:xfrm>
            <a:off x="470225" y="1252400"/>
            <a:ext cx="5893200" cy="4770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rPr b="1" lang="en-US" sz="2200">
                <a:solidFill>
                  <a:schemeClr val="dk1"/>
                </a:solidFill>
              </a:rPr>
              <a:t>Feature Relationships</a:t>
            </a:r>
            <a:endParaRPr b="1" sz="22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US" sz="1700">
                <a:solidFill>
                  <a:schemeClr val="dk1"/>
                </a:solidFill>
                <a:latin typeface="Calibri"/>
                <a:ea typeface="Calibri"/>
                <a:cs typeface="Calibri"/>
                <a:sym typeface="Calibri"/>
              </a:rPr>
              <a:t>Stars are highly right-skewed, with most repositories having relatively fewer stars and a small number having very high stars.</a:t>
            </a:r>
            <a:endParaRPr sz="1700">
              <a:solidFill>
                <a:schemeClr val="dk1"/>
              </a:solidFill>
              <a:latin typeface="Calibri"/>
              <a:ea typeface="Calibri"/>
              <a:cs typeface="Calibri"/>
              <a:sym typeface="Calibri"/>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latin typeface="Calibri"/>
                <a:ea typeface="Calibri"/>
                <a:cs typeface="Calibri"/>
                <a:sym typeface="Calibri"/>
              </a:rPr>
              <a:t>Log_Stars provides a compressed view of Stars, making the distribution and relationships easier to analyze.</a:t>
            </a:r>
            <a:endParaRPr sz="1700">
              <a:solidFill>
                <a:schemeClr val="dk1"/>
              </a:solidFill>
              <a:latin typeface="Calibri"/>
              <a:ea typeface="Calibri"/>
              <a:cs typeface="Calibri"/>
              <a:sym typeface="Calibri"/>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latin typeface="Calibri"/>
                <a:ea typeface="Calibri"/>
                <a:cs typeface="Calibri"/>
                <a:sym typeface="Calibri"/>
              </a:rPr>
              <a:t>Repository Name Length and Owner Name Length show limited visible relationship with Stars, suggesting naming length alone does not strongly explain repository popularity.</a:t>
            </a:r>
            <a:endParaRPr sz="1700">
              <a:solidFill>
                <a:schemeClr val="dk1"/>
              </a:solidFill>
              <a:latin typeface="Calibri"/>
              <a:ea typeface="Calibri"/>
              <a:cs typeface="Calibri"/>
              <a:sym typeface="Calibri"/>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latin typeface="Calibri"/>
                <a:ea typeface="Calibri"/>
                <a:cs typeface="Calibri"/>
                <a:sym typeface="Calibri"/>
              </a:rPr>
              <a:t>Repository Word Count has a positive relationship with Repository Name Length, as longer repository names generally contain more words.</a:t>
            </a:r>
            <a:endParaRPr sz="1700">
              <a:solidFill>
                <a:schemeClr val="dk1"/>
              </a:solidFill>
              <a:latin typeface="Calibri"/>
              <a:ea typeface="Calibri"/>
              <a:cs typeface="Calibri"/>
              <a:sym typeface="Calibri"/>
            </a:endParaRPr>
          </a:p>
          <a:p>
            <a:pPr indent="0" lvl="0" marL="0" marR="0" rtl="0" algn="l">
              <a:lnSpc>
                <a:spcPct val="115000"/>
              </a:lnSpc>
              <a:spcBef>
                <a:spcPts val="1200"/>
              </a:spcBef>
              <a:spcAft>
                <a:spcPts val="1200"/>
              </a:spcAft>
              <a:buClr>
                <a:srgbClr val="000000"/>
              </a:buClr>
              <a:buSzPts val="1400"/>
              <a:buFont typeface="Arial"/>
              <a:buNone/>
            </a:pPr>
            <a:r>
              <a:t/>
            </a:r>
            <a:endParaRPr b="1" sz="2400">
              <a:solidFill>
                <a:schemeClr val="dk1"/>
              </a:solidFill>
              <a:latin typeface="Calibri"/>
              <a:ea typeface="Calibri"/>
              <a:cs typeface="Calibri"/>
              <a:sym typeface="Calibri"/>
            </a:endParaRPr>
          </a:p>
        </p:txBody>
      </p:sp>
      <p:sp>
        <p:nvSpPr>
          <p:cNvPr id="171" name="Google Shape;171;p22"/>
          <p:cNvSpPr txBox="1"/>
          <p:nvPr/>
        </p:nvSpPr>
        <p:spPr>
          <a:xfrm>
            <a:off x="6363600" y="3948125"/>
            <a:ext cx="5203800" cy="3387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120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
        <p:nvSpPr>
          <p:cNvPr id="172" name="Google Shape;172;p22"/>
          <p:cNvSpPr txBox="1"/>
          <p:nvPr/>
        </p:nvSpPr>
        <p:spPr>
          <a:xfrm>
            <a:off x="0" y="375875"/>
            <a:ext cx="63636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  Multivariate Analysis</a:t>
            </a:r>
            <a:endParaRPr b="0" i="0" sz="1400" u="none" cap="none" strike="noStrike">
              <a:solidFill>
                <a:schemeClr val="dk1"/>
              </a:solidFill>
              <a:latin typeface="Arial"/>
              <a:ea typeface="Arial"/>
              <a:cs typeface="Arial"/>
              <a:sym typeface="Arial"/>
            </a:endParaRPr>
          </a:p>
        </p:txBody>
      </p:sp>
      <p:pic>
        <p:nvPicPr>
          <p:cNvPr id="173" name="Google Shape;173;p22" title="Screenshot 2026-09-04 091805.png"/>
          <p:cNvPicPr preferRelativeResize="0"/>
          <p:nvPr/>
        </p:nvPicPr>
        <p:blipFill>
          <a:blip r:embed="rId3">
            <a:alphaModFix/>
          </a:blip>
          <a:stretch>
            <a:fillRect/>
          </a:stretch>
        </p:blipFill>
        <p:spPr>
          <a:xfrm>
            <a:off x="6516000" y="152400"/>
            <a:ext cx="5379576" cy="5332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3"/>
          <p:cNvSpPr txBox="1"/>
          <p:nvPr/>
        </p:nvSpPr>
        <p:spPr>
          <a:xfrm>
            <a:off x="700405" y="478790"/>
            <a:ext cx="10584815" cy="53619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t/>
            </a:r>
            <a:endParaRPr b="1" i="0" sz="400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80" name="Google Shape;180;p23"/>
          <p:cNvSpPr txBox="1"/>
          <p:nvPr/>
        </p:nvSpPr>
        <p:spPr>
          <a:xfrm>
            <a:off x="3556000" y="1604010"/>
            <a:ext cx="5080000" cy="199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 name="Google Shape;181;p23"/>
          <p:cNvSpPr txBox="1"/>
          <p:nvPr/>
        </p:nvSpPr>
        <p:spPr>
          <a:xfrm>
            <a:off x="6005050" y="1088150"/>
            <a:ext cx="5713800" cy="39681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800"/>
              </a:spcBef>
              <a:spcAft>
                <a:spcPts val="0"/>
              </a:spcAft>
              <a:buClr>
                <a:schemeClr val="dk1"/>
              </a:buClr>
              <a:buSzPts val="1100"/>
              <a:buFont typeface="Arial"/>
              <a:buNone/>
            </a:pPr>
            <a:r>
              <a:rPr b="1" lang="en-US" sz="2400">
                <a:solidFill>
                  <a:schemeClr val="dk1"/>
                </a:solidFill>
                <a:latin typeface="Calibri"/>
                <a:ea typeface="Calibri"/>
                <a:cs typeface="Calibri"/>
                <a:sym typeface="Calibri"/>
              </a:rPr>
              <a:t>Correlation Analysis</a:t>
            </a:r>
            <a:endParaRPr b="1" sz="2400">
              <a:solidFill>
                <a:schemeClr val="dk1"/>
              </a:solidFill>
              <a:latin typeface="Calibri"/>
              <a:ea typeface="Calibri"/>
              <a:cs typeface="Calibri"/>
              <a:sym typeface="Calibri"/>
            </a:endParaRPr>
          </a:p>
          <a:p>
            <a:pPr indent="-317500" lvl="0" marL="457200" rtl="0" algn="just">
              <a:lnSpc>
                <a:spcPct val="115000"/>
              </a:lnSpc>
              <a:spcBef>
                <a:spcPts val="1200"/>
              </a:spcBef>
              <a:spcAft>
                <a:spcPts val="0"/>
              </a:spcAft>
              <a:buClr>
                <a:schemeClr val="dk1"/>
              </a:buClr>
              <a:buSzPts val="1400"/>
              <a:buChar char="●"/>
            </a:pPr>
            <a:r>
              <a:rPr lang="en-US">
                <a:solidFill>
                  <a:schemeClr val="dk1"/>
                </a:solidFill>
              </a:rPr>
              <a:t>Stars and Log_Stars show a moderate positive correlation (0.64) because Log_Stars is derived from Stars.</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Repository Name Length and Repo Word Count show a strong positive correlation (0.87), meaning longer repository names generally contain more words.</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Stars and Repository Name Length have a very weak negative correlation (-0.079), indicating that repository name length has almost no relationship with popularity.</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Stars and Owner Name Length show an almost zero correlation (-0.016), indicating no meaningful linear relationship.</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en-US">
                <a:solidFill>
                  <a:schemeClr val="dk1"/>
                </a:solidFill>
              </a:rPr>
              <a:t>Overall, repository naming characteristics show little relationship with repository popularity based on Stars.</a:t>
            </a:r>
            <a:endParaRPr>
              <a:solidFill>
                <a:schemeClr val="dk1"/>
              </a:solidFill>
            </a:endParaRPr>
          </a:p>
          <a:p>
            <a:pPr indent="0" lvl="0" marL="457200" marR="0" rtl="0" algn="just">
              <a:lnSpc>
                <a:spcPct val="100000"/>
              </a:lnSpc>
              <a:spcBef>
                <a:spcPts val="1200"/>
              </a:spcBef>
              <a:spcAft>
                <a:spcPts val="0"/>
              </a:spcAft>
              <a:buClr>
                <a:srgbClr val="000000"/>
              </a:buClr>
              <a:buSzPts val="1600"/>
              <a:buFont typeface="Arial"/>
              <a:buNone/>
            </a:pPr>
            <a:r>
              <a:t/>
            </a:r>
            <a:endParaRPr b="1" sz="1100">
              <a:solidFill>
                <a:schemeClr val="dk1"/>
              </a:solidFill>
            </a:endParaRPr>
          </a:p>
        </p:txBody>
      </p:sp>
      <p:sp>
        <p:nvSpPr>
          <p:cNvPr id="182" name="Google Shape;182;p23"/>
          <p:cNvSpPr txBox="1"/>
          <p:nvPr/>
        </p:nvSpPr>
        <p:spPr>
          <a:xfrm>
            <a:off x="0" y="279350"/>
            <a:ext cx="57138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  Correlation Analysis</a:t>
            </a:r>
            <a:endParaRPr b="0" i="0" sz="1400" u="none" cap="none" strike="noStrike">
              <a:solidFill>
                <a:schemeClr val="dk1"/>
              </a:solidFill>
              <a:latin typeface="Arial"/>
              <a:ea typeface="Arial"/>
              <a:cs typeface="Arial"/>
              <a:sym typeface="Arial"/>
            </a:endParaRPr>
          </a:p>
        </p:txBody>
      </p:sp>
      <p:pic>
        <p:nvPicPr>
          <p:cNvPr id="183" name="Google Shape;183;p23" title="Screenshot 2026-09-04 092343.png"/>
          <p:cNvPicPr preferRelativeResize="0"/>
          <p:nvPr/>
        </p:nvPicPr>
        <p:blipFill>
          <a:blip r:embed="rId3">
            <a:alphaModFix/>
          </a:blip>
          <a:stretch>
            <a:fillRect/>
          </a:stretch>
        </p:blipFill>
        <p:spPr>
          <a:xfrm>
            <a:off x="591075" y="1271450"/>
            <a:ext cx="5326450" cy="4250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4"/>
          <p:cNvSpPr txBox="1"/>
          <p:nvPr/>
        </p:nvSpPr>
        <p:spPr>
          <a:xfrm>
            <a:off x="0" y="260725"/>
            <a:ext cx="12077100" cy="6597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  Statistical &amp; Hypothesis Testing</a:t>
            </a:r>
            <a:endParaRPr b="0" i="0" sz="2400" u="none" cap="none" strike="noStrike">
              <a:solidFill>
                <a:srgbClr val="000000"/>
              </a:solidFill>
              <a:latin typeface="Arial"/>
              <a:ea typeface="Arial"/>
              <a:cs typeface="Arial"/>
              <a:sym typeface="Arial"/>
            </a:endParaRPr>
          </a:p>
        </p:txBody>
      </p:sp>
      <p:sp>
        <p:nvSpPr>
          <p:cNvPr id="190" name="Google Shape;190;p24"/>
          <p:cNvSpPr txBox="1"/>
          <p:nvPr/>
        </p:nvSpPr>
        <p:spPr>
          <a:xfrm>
            <a:off x="6306425" y="1102675"/>
            <a:ext cx="5421600" cy="2704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Clr>
                <a:schemeClr val="dk1"/>
              </a:buClr>
              <a:buSzPts val="1100"/>
              <a:buFont typeface="Arial"/>
              <a:buNone/>
            </a:pPr>
            <a:r>
              <a:rPr b="1" lang="en-US" sz="2000">
                <a:solidFill>
                  <a:schemeClr val="dk1"/>
                </a:solidFill>
                <a:latin typeface="Calibri"/>
                <a:ea typeface="Calibri"/>
                <a:cs typeface="Calibri"/>
                <a:sym typeface="Calibri"/>
              </a:rPr>
              <a:t>Independent T-Test</a:t>
            </a:r>
            <a:endParaRPr b="1" sz="2000">
              <a:solidFill>
                <a:schemeClr val="dk1"/>
              </a:solidFill>
              <a:latin typeface="Calibri"/>
              <a:ea typeface="Calibri"/>
              <a:cs typeface="Calibri"/>
              <a:sym typeface="Calibri"/>
            </a:endParaRPr>
          </a:p>
          <a:p>
            <a:pPr indent="-317500" lvl="0" marL="457200" rtl="0" algn="l">
              <a:lnSpc>
                <a:spcPct val="115000"/>
              </a:lnSpc>
              <a:spcBef>
                <a:spcPts val="1200"/>
              </a:spcBef>
              <a:spcAft>
                <a:spcPts val="0"/>
              </a:spcAft>
              <a:buClr>
                <a:schemeClr val="dk1"/>
              </a:buClr>
              <a:buSzPts val="1400"/>
              <a:buChar char="●"/>
            </a:pPr>
            <a:r>
              <a:rPr lang="en-US">
                <a:solidFill>
                  <a:schemeClr val="dk1"/>
                </a:solidFill>
              </a:rPr>
              <a:t>Used to compare the Stars of Python and Java repositories.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The test checks whether the difference in average Stars between the two groups is statistically significant.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The p-value is less than 0.05, so we reject the Null Hypothesis.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US">
                <a:solidFill>
                  <a:schemeClr val="dk1"/>
                </a:solidFill>
              </a:rPr>
              <a:t>This indicates a statistically significant difference in Stars between Python and Java repositories.</a:t>
            </a:r>
            <a:endParaRPr>
              <a:solidFill>
                <a:schemeClr val="dk1"/>
              </a:solidFill>
            </a:endParaRPr>
          </a:p>
          <a:p>
            <a:pPr indent="0" lvl="0" marL="0" marR="0" rtl="0" algn="l">
              <a:lnSpc>
                <a:spcPct val="100000"/>
              </a:lnSpc>
              <a:spcBef>
                <a:spcPts val="1200"/>
              </a:spcBef>
              <a:spcAft>
                <a:spcPts val="0"/>
              </a:spcAft>
              <a:buClr>
                <a:srgbClr val="000000"/>
              </a:buClr>
              <a:buSzPts val="1600"/>
              <a:buFont typeface="Arial"/>
              <a:buNone/>
            </a:pPr>
            <a:r>
              <a:t/>
            </a:r>
            <a:endParaRPr b="1">
              <a:solidFill>
                <a:schemeClr val="dk1"/>
              </a:solidFill>
              <a:latin typeface="Calibri"/>
              <a:ea typeface="Calibri"/>
              <a:cs typeface="Calibri"/>
              <a:sym typeface="Calibri"/>
            </a:endParaRPr>
          </a:p>
        </p:txBody>
      </p:sp>
      <p:sp>
        <p:nvSpPr>
          <p:cNvPr id="191" name="Google Shape;191;p24"/>
          <p:cNvSpPr txBox="1"/>
          <p:nvPr/>
        </p:nvSpPr>
        <p:spPr>
          <a:xfrm>
            <a:off x="8968740" y="5668645"/>
            <a:ext cx="609600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ANOVA Test</a:t>
            </a:r>
            <a:endParaRPr b="0" i="0" sz="1400" u="none" cap="none" strike="noStrike">
              <a:solidFill>
                <a:srgbClr val="000000"/>
              </a:solidFill>
              <a:latin typeface="Arial"/>
              <a:ea typeface="Arial"/>
              <a:cs typeface="Arial"/>
              <a:sym typeface="Arial"/>
            </a:endParaRPr>
          </a:p>
        </p:txBody>
      </p:sp>
      <p:pic>
        <p:nvPicPr>
          <p:cNvPr id="192" name="Google Shape;192;p24" title="Screenshot 2026-08-26 201122.png"/>
          <p:cNvPicPr preferRelativeResize="0"/>
          <p:nvPr/>
        </p:nvPicPr>
        <p:blipFill rotWithShape="1">
          <a:blip r:embed="rId3">
            <a:alphaModFix/>
          </a:blip>
          <a:srcRect b="0" l="0" r="0" t="0"/>
          <a:stretch/>
        </p:blipFill>
        <p:spPr>
          <a:xfrm>
            <a:off x="312198" y="1426300"/>
            <a:ext cx="4431575" cy="2305050"/>
          </a:xfrm>
          <a:prstGeom prst="rect">
            <a:avLst/>
          </a:prstGeom>
          <a:noFill/>
          <a:ln>
            <a:noFill/>
          </a:ln>
        </p:spPr>
      </p:pic>
      <p:pic>
        <p:nvPicPr>
          <p:cNvPr id="193" name="Google Shape;193;p24" title="Screenshot 2026-08-26 201426.png"/>
          <p:cNvPicPr preferRelativeResize="0"/>
          <p:nvPr/>
        </p:nvPicPr>
        <p:blipFill rotWithShape="1">
          <a:blip r:embed="rId4">
            <a:alphaModFix/>
          </a:blip>
          <a:srcRect b="0" l="0" r="0" t="0"/>
          <a:stretch/>
        </p:blipFill>
        <p:spPr>
          <a:xfrm>
            <a:off x="6731075" y="3822425"/>
            <a:ext cx="4354300" cy="2410075"/>
          </a:xfrm>
          <a:prstGeom prst="rect">
            <a:avLst/>
          </a:prstGeom>
          <a:noFill/>
          <a:ln>
            <a:noFill/>
          </a:ln>
        </p:spPr>
      </p:pic>
      <p:sp>
        <p:nvSpPr>
          <p:cNvPr id="194" name="Google Shape;194;p24"/>
          <p:cNvSpPr txBox="1"/>
          <p:nvPr/>
        </p:nvSpPr>
        <p:spPr>
          <a:xfrm>
            <a:off x="540050" y="4093925"/>
            <a:ext cx="5964000" cy="2647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400"/>
              <a:buFont typeface="Arial"/>
              <a:buNone/>
            </a:pPr>
            <a:r>
              <a:rPr b="1" i="0" lang="en-US" sz="1700" u="none" cap="none" strike="noStrike">
                <a:solidFill>
                  <a:schemeClr val="dk1"/>
                </a:solidFill>
                <a:latin typeface="Arial"/>
                <a:ea typeface="Arial"/>
                <a:cs typeface="Arial"/>
                <a:sym typeface="Arial"/>
              </a:rPr>
              <a:t>Chi-Square Test &amp; Anova Test</a:t>
            </a:r>
            <a:endParaRPr b="1" i="0" sz="1700" u="none" cap="none" strike="noStrike">
              <a:solidFill>
                <a:schemeClr val="dk1"/>
              </a:solidFill>
              <a:latin typeface="Arial"/>
              <a:ea typeface="Arial"/>
              <a:cs typeface="Arial"/>
              <a:sym typeface="Arial"/>
            </a:endParaRPr>
          </a:p>
          <a:p>
            <a:pPr indent="-311150" lvl="0" marL="457200" rtl="0" algn="just">
              <a:lnSpc>
                <a:spcPct val="115000"/>
              </a:lnSpc>
              <a:spcBef>
                <a:spcPts val="0"/>
              </a:spcBef>
              <a:spcAft>
                <a:spcPts val="0"/>
              </a:spcAft>
              <a:buClr>
                <a:schemeClr val="dk1"/>
              </a:buClr>
              <a:buSzPts val="1300"/>
              <a:buChar char="●"/>
            </a:pPr>
            <a:r>
              <a:rPr lang="en-US" sz="1300">
                <a:solidFill>
                  <a:schemeClr val="dk1"/>
                </a:solidFill>
              </a:rPr>
              <a:t>Chi-Square Test examines whether Category and Language are significantly associated.</a:t>
            </a:r>
            <a:endParaRPr sz="1300">
              <a:solidFill>
                <a:schemeClr val="dk1"/>
              </a:solidFill>
            </a:endParaRPr>
          </a:p>
          <a:p>
            <a:pPr indent="-311150" lvl="0" marL="457200" rtl="0" algn="just">
              <a:lnSpc>
                <a:spcPct val="115000"/>
              </a:lnSpc>
              <a:spcBef>
                <a:spcPts val="0"/>
              </a:spcBef>
              <a:spcAft>
                <a:spcPts val="0"/>
              </a:spcAft>
              <a:buClr>
                <a:schemeClr val="dk1"/>
              </a:buClr>
              <a:buSzPts val="1300"/>
              <a:buChar char="●"/>
            </a:pPr>
            <a:r>
              <a:rPr lang="en-US" sz="1300">
                <a:solidFill>
                  <a:schemeClr val="dk1"/>
                </a:solidFill>
              </a:rPr>
              <a:t>ANOVA Test compares the average Stars across different Categories.</a:t>
            </a:r>
            <a:endParaRPr sz="1300">
              <a:solidFill>
                <a:schemeClr val="dk1"/>
              </a:solidFill>
            </a:endParaRPr>
          </a:p>
          <a:p>
            <a:pPr indent="-311150" lvl="0" marL="457200" rtl="0" algn="just">
              <a:lnSpc>
                <a:spcPct val="115000"/>
              </a:lnSpc>
              <a:spcBef>
                <a:spcPts val="0"/>
              </a:spcBef>
              <a:spcAft>
                <a:spcPts val="0"/>
              </a:spcAft>
              <a:buClr>
                <a:schemeClr val="dk1"/>
              </a:buClr>
              <a:buSzPts val="1300"/>
              <a:buChar char="●"/>
            </a:pPr>
            <a:r>
              <a:rPr lang="en-US" sz="1300">
                <a:solidFill>
                  <a:schemeClr val="dk1"/>
                </a:solidFill>
              </a:rPr>
              <a:t>Both tests have a p-value less than 0.05, so the Null Hypothesis is rejected.</a:t>
            </a:r>
            <a:endParaRPr sz="1300">
              <a:solidFill>
                <a:schemeClr val="dk1"/>
              </a:solidFill>
            </a:endParaRPr>
          </a:p>
          <a:p>
            <a:pPr indent="-311150" lvl="0" marL="457200" rtl="0" algn="just">
              <a:lnSpc>
                <a:spcPct val="115000"/>
              </a:lnSpc>
              <a:spcBef>
                <a:spcPts val="0"/>
              </a:spcBef>
              <a:spcAft>
                <a:spcPts val="0"/>
              </a:spcAft>
              <a:buClr>
                <a:schemeClr val="dk1"/>
              </a:buClr>
              <a:buSzPts val="1300"/>
              <a:buChar char="●"/>
            </a:pPr>
            <a:r>
              <a:rPr lang="en-US" sz="1300">
                <a:solidFill>
                  <a:schemeClr val="dk1"/>
                </a:solidFill>
              </a:rPr>
              <a:t>The Chi-Square result indicates a significant association between Category and Language.</a:t>
            </a:r>
            <a:endParaRPr sz="1300">
              <a:solidFill>
                <a:schemeClr val="dk1"/>
              </a:solidFill>
            </a:endParaRPr>
          </a:p>
          <a:p>
            <a:pPr indent="-311150" lvl="0" marL="457200" rtl="0" algn="just">
              <a:lnSpc>
                <a:spcPct val="115000"/>
              </a:lnSpc>
              <a:spcBef>
                <a:spcPts val="0"/>
              </a:spcBef>
              <a:spcAft>
                <a:spcPts val="0"/>
              </a:spcAft>
              <a:buClr>
                <a:schemeClr val="dk1"/>
              </a:buClr>
              <a:buSzPts val="1300"/>
              <a:buChar char="●"/>
            </a:pPr>
            <a:r>
              <a:rPr lang="en-US" sz="1300">
                <a:solidFill>
                  <a:schemeClr val="dk1"/>
                </a:solidFill>
              </a:rPr>
              <a:t>The ANOVA result indicates a statistically significant difference in average Stars across categories.</a:t>
            </a:r>
            <a:endParaRPr sz="1300">
              <a:solidFill>
                <a:schemeClr val="dk1"/>
              </a:solidFill>
            </a:endParaRPr>
          </a:p>
          <a:p>
            <a:pPr indent="0" lvl="0" marL="457200" marR="0" rtl="0" algn="l">
              <a:lnSpc>
                <a:spcPct val="115000"/>
              </a:lnSpc>
              <a:spcBef>
                <a:spcPts val="0"/>
              </a:spcBef>
              <a:spcAft>
                <a:spcPts val="0"/>
              </a:spcAft>
              <a:buNone/>
            </a:pPr>
            <a:r>
              <a:t/>
            </a:r>
            <a:endParaRPr b="1">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5"/>
          <p:cNvSpPr txBox="1"/>
          <p:nvPr/>
        </p:nvSpPr>
        <p:spPr>
          <a:xfrm>
            <a:off x="79151" y="302625"/>
            <a:ext cx="11188200" cy="52338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4000"/>
              <a:buFont typeface="Arial"/>
              <a:buNone/>
            </a:pPr>
            <a:r>
              <a:rPr b="1" i="0" lang="en-US" sz="4000" u="none" cap="none" strike="noStrike">
                <a:solidFill>
                  <a:srgbClr val="FF0000"/>
                </a:solidFill>
                <a:latin typeface="Times New Roman"/>
                <a:ea typeface="Times New Roman"/>
                <a:cs typeface="Times New Roman"/>
                <a:sym typeface="Times New Roman"/>
              </a:rPr>
              <a:t>  Key Business Insights</a:t>
            </a:r>
            <a:endParaRPr b="1" i="0" sz="1800" u="none" cap="none" strike="noStrike">
              <a:solidFill>
                <a:srgbClr val="FF0000"/>
              </a:solidFill>
              <a:latin typeface="Times New Roman"/>
              <a:ea typeface="Times New Roman"/>
              <a:cs typeface="Times New Roman"/>
              <a:sym typeface="Times New Roman"/>
            </a:endParaRPr>
          </a:p>
          <a:p>
            <a:pPr indent="-336550" lvl="0" marL="457200" rtl="0" algn="just">
              <a:lnSpc>
                <a:spcPct val="150000"/>
              </a:lnSpc>
              <a:spcBef>
                <a:spcPts val="0"/>
              </a:spcBef>
              <a:spcAft>
                <a:spcPts val="0"/>
              </a:spcAft>
              <a:buClr>
                <a:schemeClr val="dk1"/>
              </a:buClr>
              <a:buSzPts val="1700"/>
              <a:buAutoNum type="arabicPeriod"/>
            </a:pPr>
            <a:r>
              <a:rPr lang="en-US" sz="1700">
                <a:solidFill>
                  <a:schemeClr val="dk1"/>
                </a:solidFill>
              </a:rPr>
              <a:t>Web Development shows the highest average repository popularity based on Stars.</a:t>
            </a:r>
            <a:endParaRPr sz="1700">
              <a:solidFill>
                <a:schemeClr val="dk1"/>
              </a:solidFill>
            </a:endParaRPr>
          </a:p>
          <a:p>
            <a:pPr indent="-336550" lvl="0" marL="457200" rtl="0" algn="just">
              <a:lnSpc>
                <a:spcPct val="150000"/>
              </a:lnSpc>
              <a:spcBef>
                <a:spcPts val="0"/>
              </a:spcBef>
              <a:spcAft>
                <a:spcPts val="0"/>
              </a:spcAft>
              <a:buClr>
                <a:schemeClr val="dk1"/>
              </a:buClr>
              <a:buSzPts val="1700"/>
              <a:buAutoNum type="arabicPeriod"/>
            </a:pPr>
            <a:r>
              <a:rPr lang="en-US" sz="1700">
                <a:solidFill>
                  <a:schemeClr val="dk1"/>
                </a:solidFill>
              </a:rPr>
              <a:t>Python, TypeScript, and JavaScript are among the most common programming languages in the dataset.</a:t>
            </a:r>
            <a:endParaRPr sz="1700">
              <a:solidFill>
                <a:schemeClr val="dk1"/>
              </a:solidFill>
            </a:endParaRPr>
          </a:p>
          <a:p>
            <a:pPr indent="-336550" lvl="0" marL="457200" rtl="0" algn="just">
              <a:lnSpc>
                <a:spcPct val="150000"/>
              </a:lnSpc>
              <a:spcBef>
                <a:spcPts val="0"/>
              </a:spcBef>
              <a:spcAft>
                <a:spcPts val="0"/>
              </a:spcAft>
              <a:buClr>
                <a:schemeClr val="dk1"/>
              </a:buClr>
              <a:buSzPts val="1700"/>
              <a:buAutoNum type="arabicPeriod"/>
            </a:pPr>
            <a:r>
              <a:rPr lang="en-US" sz="1700">
                <a:solidFill>
                  <a:schemeClr val="dk1"/>
                </a:solidFill>
              </a:rPr>
              <a:t>Repository popularity varies considerably across categories, with a few repositories having exceptionally high Star counts.</a:t>
            </a:r>
            <a:endParaRPr sz="1700">
              <a:solidFill>
                <a:schemeClr val="dk1"/>
              </a:solidFill>
            </a:endParaRPr>
          </a:p>
          <a:p>
            <a:pPr indent="-336550" lvl="0" marL="457200" rtl="0" algn="just">
              <a:lnSpc>
                <a:spcPct val="150000"/>
              </a:lnSpc>
              <a:spcBef>
                <a:spcPts val="0"/>
              </a:spcBef>
              <a:spcAft>
                <a:spcPts val="0"/>
              </a:spcAft>
              <a:buClr>
                <a:schemeClr val="dk1"/>
              </a:buClr>
              <a:buSzPts val="1700"/>
              <a:buAutoNum type="arabicPeriod"/>
            </a:pPr>
            <a:r>
              <a:rPr lang="en-US" sz="1700">
                <a:solidFill>
                  <a:schemeClr val="dk1"/>
                </a:solidFill>
              </a:rPr>
              <a:t>A small number of repositories account for a large share of the highest Star counts.</a:t>
            </a:r>
            <a:endParaRPr sz="1700">
              <a:solidFill>
                <a:schemeClr val="dk1"/>
              </a:solidFill>
            </a:endParaRPr>
          </a:p>
          <a:p>
            <a:pPr indent="-336550" lvl="0" marL="457200" rtl="0" algn="just">
              <a:lnSpc>
                <a:spcPct val="150000"/>
              </a:lnSpc>
              <a:spcBef>
                <a:spcPts val="0"/>
              </a:spcBef>
              <a:spcAft>
                <a:spcPts val="0"/>
              </a:spcAft>
              <a:buClr>
                <a:schemeClr val="dk1"/>
              </a:buClr>
              <a:buSzPts val="1700"/>
              <a:buAutoNum type="arabicPeriod"/>
            </a:pPr>
            <a:r>
              <a:rPr lang="en-US" sz="1700">
                <a:solidFill>
                  <a:schemeClr val="dk1"/>
                </a:solidFill>
              </a:rPr>
              <a:t>The Chi-Square test shows a statistically significant association between Category and Language.</a:t>
            </a:r>
            <a:endParaRPr sz="1700">
              <a:solidFill>
                <a:schemeClr val="dk1"/>
              </a:solidFill>
            </a:endParaRPr>
          </a:p>
          <a:p>
            <a:pPr indent="-336550" lvl="0" marL="457200" rtl="0" algn="just">
              <a:lnSpc>
                <a:spcPct val="150000"/>
              </a:lnSpc>
              <a:spcBef>
                <a:spcPts val="0"/>
              </a:spcBef>
              <a:spcAft>
                <a:spcPts val="0"/>
              </a:spcAft>
              <a:buClr>
                <a:schemeClr val="dk1"/>
              </a:buClr>
              <a:buSzPts val="1700"/>
              <a:buAutoNum type="arabicPeriod"/>
            </a:pPr>
            <a:r>
              <a:rPr lang="en-US" sz="1700">
                <a:solidFill>
                  <a:schemeClr val="dk1"/>
                </a:solidFill>
              </a:rPr>
              <a:t>The ANOVA test shows that average repository Stars differ significantly across categories.</a:t>
            </a:r>
            <a:endParaRPr sz="1700">
              <a:solidFill>
                <a:schemeClr val="dk1"/>
              </a:solidFill>
            </a:endParaRPr>
          </a:p>
          <a:p>
            <a:pPr indent="-336550" lvl="0" marL="457200" rtl="0" algn="just">
              <a:lnSpc>
                <a:spcPct val="150000"/>
              </a:lnSpc>
              <a:spcBef>
                <a:spcPts val="0"/>
              </a:spcBef>
              <a:spcAft>
                <a:spcPts val="0"/>
              </a:spcAft>
              <a:buClr>
                <a:schemeClr val="dk1"/>
              </a:buClr>
              <a:buSzPts val="1700"/>
              <a:buAutoNum type="arabicPeriod"/>
            </a:pPr>
            <a:r>
              <a:rPr lang="en-US" sz="1700">
                <a:solidFill>
                  <a:schemeClr val="dk1"/>
                </a:solidFill>
              </a:rPr>
              <a:t>The analysis identifies the most popular repositories within each GitHub topic based on Stars.</a:t>
            </a:r>
            <a:endParaRPr sz="1700">
              <a:solidFill>
                <a:schemeClr val="dk1"/>
              </a:solidFill>
            </a:endParaRPr>
          </a:p>
          <a:p>
            <a:pPr indent="0" lvl="0" marL="457200" marR="0" rtl="0" algn="just">
              <a:lnSpc>
                <a:spcPct val="150000"/>
              </a:lnSpc>
              <a:spcBef>
                <a:spcPts val="0"/>
              </a:spcBef>
              <a:spcAft>
                <a:spcPts val="0"/>
              </a:spcAft>
              <a:buNone/>
            </a:pPr>
            <a:r>
              <a:t/>
            </a:r>
            <a:endParaRPr sz="17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6"/>
          <p:cNvSpPr txBox="1"/>
          <p:nvPr/>
        </p:nvSpPr>
        <p:spPr>
          <a:xfrm>
            <a:off x="0" y="65175"/>
            <a:ext cx="12192000" cy="67929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rPr b="1" lang="en-US" sz="4000">
                <a:solidFill>
                  <a:srgbClr val="FF0000"/>
                </a:solidFill>
                <a:latin typeface="Times New Roman"/>
                <a:ea typeface="Times New Roman"/>
                <a:cs typeface="Times New Roman"/>
                <a:sym typeface="Times New Roman"/>
              </a:rPr>
              <a:t>Conclusion</a:t>
            </a:r>
            <a:endParaRPr b="1" sz="3000">
              <a:solidFill>
                <a:srgbClr val="FF0000"/>
              </a:solidFill>
            </a:endParaRPr>
          </a:p>
          <a:p>
            <a:pPr indent="-393700" lvl="0" marL="457200" rtl="0" algn="just">
              <a:lnSpc>
                <a:spcPct val="115000"/>
              </a:lnSpc>
              <a:spcBef>
                <a:spcPts val="120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GitHub repository popularity varies significantly across different categories and topics.</a:t>
            </a:r>
            <a:endParaRPr sz="2600">
              <a:solidFill>
                <a:schemeClr val="dk1"/>
              </a:solidFill>
              <a:latin typeface="Calibri"/>
              <a:ea typeface="Calibri"/>
              <a:cs typeface="Calibri"/>
              <a:sym typeface="Calibri"/>
            </a:endParaRPr>
          </a:p>
          <a:p>
            <a:pPr indent="-393700" lvl="0" marL="457200" rtl="0" algn="just">
              <a:lnSpc>
                <a:spcPct val="115000"/>
              </a:lnSpc>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Stars provide a useful metric for comparing repository popularity within the scraped dataset.</a:t>
            </a:r>
            <a:endParaRPr sz="2600">
              <a:solidFill>
                <a:schemeClr val="dk1"/>
              </a:solidFill>
              <a:latin typeface="Calibri"/>
              <a:ea typeface="Calibri"/>
              <a:cs typeface="Calibri"/>
              <a:sym typeface="Calibri"/>
            </a:endParaRPr>
          </a:p>
          <a:p>
            <a:pPr indent="-393700" lvl="0" marL="457200" rtl="0" algn="just">
              <a:lnSpc>
                <a:spcPct val="115000"/>
              </a:lnSpc>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Programming language and technology category help identify patterns in repository popularity.</a:t>
            </a:r>
            <a:endParaRPr sz="2600">
              <a:solidFill>
                <a:schemeClr val="dk1"/>
              </a:solidFill>
              <a:latin typeface="Calibri"/>
              <a:ea typeface="Calibri"/>
              <a:cs typeface="Calibri"/>
              <a:sym typeface="Calibri"/>
            </a:endParaRPr>
          </a:p>
          <a:p>
            <a:pPr indent="-393700" lvl="0" marL="457200" rtl="0" algn="just">
              <a:lnSpc>
                <a:spcPct val="115000"/>
              </a:lnSpc>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Statistical analysis revealed significant differences in average Stars across categories and a significant association between Category and Language.</a:t>
            </a:r>
            <a:endParaRPr sz="2600">
              <a:solidFill>
                <a:schemeClr val="dk1"/>
              </a:solidFill>
              <a:latin typeface="Calibri"/>
              <a:ea typeface="Calibri"/>
              <a:cs typeface="Calibri"/>
              <a:sym typeface="Calibri"/>
            </a:endParaRPr>
          </a:p>
          <a:p>
            <a:pPr indent="-393700" lvl="0" marL="457200" rtl="0" algn="just">
              <a:lnSpc>
                <a:spcPct val="115000"/>
              </a:lnSpc>
              <a:spcBef>
                <a:spcPts val="0"/>
              </a:spcBef>
              <a:spcAft>
                <a:spcPts val="0"/>
              </a:spcAft>
              <a:buClr>
                <a:schemeClr val="dk1"/>
              </a:buClr>
              <a:buSzPts val="2600"/>
              <a:buFont typeface="Calibri"/>
              <a:buChar char="●"/>
            </a:pPr>
            <a:r>
              <a:rPr lang="en-US" sz="2600">
                <a:solidFill>
                  <a:schemeClr val="dk1"/>
                </a:solidFill>
                <a:latin typeface="Calibri"/>
                <a:ea typeface="Calibri"/>
                <a:cs typeface="Calibri"/>
                <a:sym typeface="Calibri"/>
              </a:rPr>
              <a:t>Overall, the analysis helps identify popular repositories, compare technology areas, and understand GitHub repository popularity patterns.</a:t>
            </a:r>
            <a:endParaRPr sz="2600">
              <a:solidFill>
                <a:schemeClr val="dk1"/>
              </a:solidFill>
              <a:latin typeface="Calibri"/>
              <a:ea typeface="Calibri"/>
              <a:cs typeface="Calibri"/>
              <a:sym typeface="Calibri"/>
            </a:endParaRPr>
          </a:p>
          <a:p>
            <a:pPr indent="0" lvl="0" marL="457200" marR="0" rtl="0" algn="l">
              <a:lnSpc>
                <a:spcPct val="150000"/>
              </a:lnSpc>
              <a:spcBef>
                <a:spcPts val="1200"/>
              </a:spcBef>
              <a:spcAft>
                <a:spcPts val="0"/>
              </a:spcAft>
              <a:buClr>
                <a:srgbClr val="000000"/>
              </a:buClr>
              <a:buSzPts val="2200"/>
              <a:buFont typeface="Arial"/>
              <a:buNone/>
            </a:pPr>
            <a:r>
              <a:t/>
            </a:r>
            <a:endParaRPr b="1" sz="4000">
              <a:solidFill>
                <a:srgbClr val="FF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27"/>
          <p:cNvPicPr preferRelativeResize="0"/>
          <p:nvPr/>
        </p:nvPicPr>
        <p:blipFill rotWithShape="1">
          <a:blip r:embed="rId3">
            <a:alphaModFix/>
          </a:blip>
          <a:srcRect b="0" l="0" r="0" t="0"/>
          <a:stretch/>
        </p:blipFill>
        <p:spPr>
          <a:xfrm>
            <a:off x="6466516" y="1850749"/>
            <a:ext cx="4465643" cy="2834317"/>
          </a:xfrm>
          <a:prstGeom prst="rect">
            <a:avLst/>
          </a:prstGeom>
          <a:noFill/>
          <a:ln>
            <a:noFill/>
          </a:ln>
        </p:spPr>
      </p:pic>
      <p:sp>
        <p:nvSpPr>
          <p:cNvPr id="210" name="Google Shape;210;p27"/>
          <p:cNvSpPr txBox="1"/>
          <p:nvPr/>
        </p:nvSpPr>
        <p:spPr>
          <a:xfrm>
            <a:off x="1244600" y="2593340"/>
            <a:ext cx="3661836" cy="7694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4400"/>
              <a:buFont typeface="Libre Baskerville"/>
              <a:buNone/>
            </a:pPr>
            <a:r>
              <a:rPr b="0" i="0" lang="en-US" sz="4400" u="none" cap="none" strike="noStrike">
                <a:solidFill>
                  <a:srgbClr val="C00000"/>
                </a:solidFill>
                <a:latin typeface="Libre Baskerville"/>
                <a:ea typeface="Libre Baskerville"/>
                <a:cs typeface="Libre Baskerville"/>
                <a:sym typeface="Libre Baskerville"/>
              </a:rPr>
              <a:t>THANK  YOU</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